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73" r:id="rId3"/>
    <p:sldId id="274"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58"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BF3D32-9964-49A2-65E7-19BC6A0C0A4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xmlns="" id="{45CA849E-CE31-48D5-7C6E-56871D16F1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xmlns="" id="{C29C437C-F114-2D9D-D689-FD7E85500BDF}"/>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5" name="Footer Placeholder 4">
            <a:extLst>
              <a:ext uri="{FF2B5EF4-FFF2-40B4-BE49-F238E27FC236}">
                <a16:creationId xmlns:a16="http://schemas.microsoft.com/office/drawing/2014/main" xmlns="" id="{EFB3AA54-E0B1-384B-1E01-9587138CC2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189D3D8-F31F-9258-67FF-279BD4F12288}"/>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3697155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5F5E57-D2C9-2BAD-88C4-7AF10E3D8634}"/>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xmlns="" id="{F10A9C3A-B3E6-6D7E-91D9-EAD5DA1DF7F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xmlns="" id="{53100E3C-790B-F59A-CF1D-9A15D0EA6C2B}"/>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5" name="Footer Placeholder 4">
            <a:extLst>
              <a:ext uri="{FF2B5EF4-FFF2-40B4-BE49-F238E27FC236}">
                <a16:creationId xmlns:a16="http://schemas.microsoft.com/office/drawing/2014/main" xmlns="" id="{A23E4A01-96B3-5B79-889B-436DC75AA3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62C7973-FC5E-32F0-D561-95DFC5596B07}"/>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328869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57450E-78F3-DED3-3950-406E822F4AB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xmlns="" id="{79A4D4F2-08C7-04A9-682D-B19B5C6A77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AB929399-41F0-E642-0924-FFEBC404F531}"/>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5" name="Footer Placeholder 4">
            <a:extLst>
              <a:ext uri="{FF2B5EF4-FFF2-40B4-BE49-F238E27FC236}">
                <a16:creationId xmlns:a16="http://schemas.microsoft.com/office/drawing/2014/main" xmlns="" id="{97947EE4-480C-8BB7-437E-6202291AC7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A2EAC94-6834-7567-7E74-F56E98DD183D}"/>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1648739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7249AE-6119-755A-A1FF-A5AF8E2BCB86}"/>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xmlns="" id="{C1746C78-2EFF-C0DC-4E1B-DDC409271E4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xmlns="" id="{3D046B1B-A59A-3D57-3151-6FC65EE4B1F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xmlns="" id="{4FEE7FCB-5A7D-CB1E-3CDF-6B83C6862125}"/>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6" name="Footer Placeholder 5">
            <a:extLst>
              <a:ext uri="{FF2B5EF4-FFF2-40B4-BE49-F238E27FC236}">
                <a16:creationId xmlns:a16="http://schemas.microsoft.com/office/drawing/2014/main" xmlns="" id="{3DCB57F3-99BE-C21C-C797-E903C203C4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8711896-0C90-9BE6-C894-08E67F6F3EF4}"/>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3910732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1E97DC-554D-B870-A0C6-6ED31682F655}"/>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xmlns="" id="{1E0F76FC-6795-6C32-7D88-C8A9F1252D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3FC50292-2154-F0BA-0604-EEC60D21CB9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xmlns="" id="{D6DA44FA-281C-A5DE-8A22-9588C35A8A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648F8BB3-163B-8812-DA82-EE38C1F1C52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xmlns="" id="{5D10B4D8-709A-2F9C-6536-CA71F823C360}"/>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8" name="Footer Placeholder 7">
            <a:extLst>
              <a:ext uri="{FF2B5EF4-FFF2-40B4-BE49-F238E27FC236}">
                <a16:creationId xmlns:a16="http://schemas.microsoft.com/office/drawing/2014/main" xmlns="" id="{D7DF0720-487B-A82A-ECE4-EEA5A8E3E85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3E6C3266-9EC7-A386-191A-78020208C82F}"/>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1939663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2C1628-8476-30F3-97D2-343A24C37ECD}"/>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xmlns="" id="{31DCF492-CD29-CECE-5463-3D7996D4F77A}"/>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4" name="Footer Placeholder 3">
            <a:extLst>
              <a:ext uri="{FF2B5EF4-FFF2-40B4-BE49-F238E27FC236}">
                <a16:creationId xmlns:a16="http://schemas.microsoft.com/office/drawing/2014/main" xmlns="" id="{911B6EEA-5D2A-865A-69B1-7066475B8A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E708177F-9DD2-07FA-1113-14E53266242A}"/>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330544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76D2A21-4647-C032-F223-AE00C19BDE5B}"/>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3" name="Footer Placeholder 2">
            <a:extLst>
              <a:ext uri="{FF2B5EF4-FFF2-40B4-BE49-F238E27FC236}">
                <a16:creationId xmlns:a16="http://schemas.microsoft.com/office/drawing/2014/main" xmlns="" id="{B61F19E0-1C4F-7275-ED35-4D6553A7E7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BA58FB1C-296E-A10F-FEA6-D77A5FBF5BEC}"/>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11114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1C517A-CF47-37FA-2C72-B4E5E0480C3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xmlns="" id="{09C77BDF-EE91-ECF3-33FD-054C0CDD6B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xmlns="" id="{26205C9A-3A04-2FF3-F323-D88262D173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5CAD9ED7-F82C-74B4-8519-19D50F026415}"/>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6" name="Footer Placeholder 5">
            <a:extLst>
              <a:ext uri="{FF2B5EF4-FFF2-40B4-BE49-F238E27FC236}">
                <a16:creationId xmlns:a16="http://schemas.microsoft.com/office/drawing/2014/main" xmlns="" id="{8B1AD8B8-8B0F-DEE3-5E5B-4A97877528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DBA6B59-9687-96A1-C7C6-2EC4ECF308DE}"/>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2047811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C738B5-4D3B-7E8E-F3F0-73851D75B2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xmlns="" id="{0A2CF6E9-FDFC-BE66-1EE7-B4CB5B202B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9ED33137-745E-2D2E-C670-54103D6B8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A7514D55-AEA6-6FE6-593E-B8817659E2C2}"/>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6" name="Footer Placeholder 5">
            <a:extLst>
              <a:ext uri="{FF2B5EF4-FFF2-40B4-BE49-F238E27FC236}">
                <a16:creationId xmlns:a16="http://schemas.microsoft.com/office/drawing/2014/main" xmlns="" id="{1F97D4F9-EBA6-37B2-3998-7CD5EB41B0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FDB7573-4EF4-A4DB-5120-8CA641B1E5BA}"/>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1066516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BFF806-D25E-324B-0B87-21AAEE2E1C3E}"/>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xmlns="" id="{C9A7A0CB-7341-3139-1F56-3DADAF837E1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xmlns="" id="{3DD9B77E-D49C-7690-69B3-6B9E4B1FAFBE}"/>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5" name="Footer Placeholder 4">
            <a:extLst>
              <a:ext uri="{FF2B5EF4-FFF2-40B4-BE49-F238E27FC236}">
                <a16:creationId xmlns:a16="http://schemas.microsoft.com/office/drawing/2014/main" xmlns="" id="{3CB0D693-E317-8E3D-98BE-1669F3C93F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4137313-F5E2-D2A8-73CF-6D190C5A0556}"/>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2257901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F97015E-BED3-E53F-161A-3AE4F69E102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xmlns="" id="{D56CAF5B-8BEB-1696-5250-39F5B535AB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xmlns="" id="{525EA106-594B-9026-80F8-1C79B90A4BA2}"/>
              </a:ext>
            </a:extLst>
          </p:cNvPr>
          <p:cNvSpPr>
            <a:spLocks noGrp="1"/>
          </p:cNvSpPr>
          <p:nvPr>
            <p:ph type="dt" sz="half" idx="10"/>
          </p:nvPr>
        </p:nvSpPr>
        <p:spPr/>
        <p:txBody>
          <a:bodyPr/>
          <a:lstStyle/>
          <a:p>
            <a:fld id="{7AE45892-00E0-4034-B764-8B417A712974}" type="datetimeFigureOut">
              <a:rPr lang="en-IN" smtClean="0"/>
              <a:t>03-12-2025</a:t>
            </a:fld>
            <a:endParaRPr lang="en-IN"/>
          </a:p>
        </p:txBody>
      </p:sp>
      <p:sp>
        <p:nvSpPr>
          <p:cNvPr id="5" name="Footer Placeholder 4">
            <a:extLst>
              <a:ext uri="{FF2B5EF4-FFF2-40B4-BE49-F238E27FC236}">
                <a16:creationId xmlns:a16="http://schemas.microsoft.com/office/drawing/2014/main" xmlns="" id="{2A8CBE80-6007-47B3-9202-99D66CED5E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8DD86BC-D036-5390-F45B-2E0D47211A74}"/>
              </a:ext>
            </a:extLst>
          </p:cNvPr>
          <p:cNvSpPr>
            <a:spLocks noGrp="1"/>
          </p:cNvSpPr>
          <p:nvPr>
            <p:ph type="sldNum" sz="quarter" idx="12"/>
          </p:nvPr>
        </p:nvSpPr>
        <p:spPr/>
        <p:txBody>
          <a:bodyPr/>
          <a:lstStyle/>
          <a:p>
            <a:fld id="{A1E05B98-7AE2-4C19-90BE-2A8A835B380B}" type="slidenum">
              <a:rPr lang="en-IN" smtClean="0"/>
              <a:t>‹#›</a:t>
            </a:fld>
            <a:endParaRPr lang="en-IN"/>
          </a:p>
        </p:txBody>
      </p:sp>
    </p:spTree>
    <p:extLst>
      <p:ext uri="{BB962C8B-B14F-4D97-AF65-F5344CB8AC3E}">
        <p14:creationId xmlns:p14="http://schemas.microsoft.com/office/powerpoint/2010/main" val="351697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5ACA80B-A0F2-EBEB-1BE5-4C0ABFB76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xmlns="" id="{A9A2D814-336E-CB2B-61F8-CAA8693888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xmlns="" id="{83279FCB-EAC0-916C-0E7E-2BA6C51FD6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E45892-00E0-4034-B764-8B417A712974}" type="datetimeFigureOut">
              <a:rPr lang="en-IN" smtClean="0"/>
              <a:t>03-12-2025</a:t>
            </a:fld>
            <a:endParaRPr lang="en-IN"/>
          </a:p>
        </p:txBody>
      </p:sp>
      <p:sp>
        <p:nvSpPr>
          <p:cNvPr id="5" name="Footer Placeholder 4">
            <a:extLst>
              <a:ext uri="{FF2B5EF4-FFF2-40B4-BE49-F238E27FC236}">
                <a16:creationId xmlns:a16="http://schemas.microsoft.com/office/drawing/2014/main" xmlns="" id="{C47D99D4-3F05-34B0-8907-DD4677F55D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C1C9F029-0469-EF1D-88DB-D35756E864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E05B98-7AE2-4C19-90BE-2A8A835B380B}" type="slidenum">
              <a:rPr lang="en-IN" smtClean="0"/>
              <a:t>‹#›</a:t>
            </a:fld>
            <a:endParaRPr lang="en-IN"/>
          </a:p>
        </p:txBody>
      </p:sp>
    </p:spTree>
    <p:extLst>
      <p:ext uri="{BB962C8B-B14F-4D97-AF65-F5344CB8AC3E}">
        <p14:creationId xmlns:p14="http://schemas.microsoft.com/office/powerpoint/2010/main" val="3575101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8108" y="869394"/>
            <a:ext cx="8997724" cy="506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33138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7530" y="2401094"/>
            <a:ext cx="599694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42082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6386" y="1158113"/>
            <a:ext cx="6567547"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38570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30E342-DF92-F9CF-FE26-8604A94F4AC8}"/>
              </a:ext>
            </a:extLst>
          </p:cNvPr>
          <p:cNvSpPr>
            <a:spLocks noGrp="1"/>
          </p:cNvSpPr>
          <p:nvPr>
            <p:ph type="title"/>
          </p:nvPr>
        </p:nvSpPr>
        <p:spPr/>
        <p:txBody>
          <a:bodyPr>
            <a:normAutofit fontScale="90000"/>
          </a:bodyPr>
          <a:lstStyle/>
          <a:p>
            <a:r>
              <a:rPr lang="en-US" dirty="0">
                <a:effectLst/>
              </a:rPr>
              <a:t/>
            </a:r>
            <a:br>
              <a:rPr lang="en-US" dirty="0">
                <a:effectLst/>
              </a:rPr>
            </a:br>
            <a:r>
              <a:rPr lang="en-US" dirty="0">
                <a:effectLst/>
              </a:rPr>
              <a:t>What is Model Context Protocol (MCP)?</a:t>
            </a:r>
            <a:br>
              <a:rPr lang="en-US" dirty="0">
                <a:effectLst/>
              </a:rPr>
            </a:br>
            <a:endParaRPr lang="en-IN" dirty="0"/>
          </a:p>
        </p:txBody>
      </p:sp>
      <p:sp>
        <p:nvSpPr>
          <p:cNvPr id="3" name="Content Placeholder 2">
            <a:extLst>
              <a:ext uri="{FF2B5EF4-FFF2-40B4-BE49-F238E27FC236}">
                <a16:creationId xmlns:a16="http://schemas.microsoft.com/office/drawing/2014/main" xmlns="" id="{E481DA8D-CC75-1282-CEF3-4CEB1E44D4F0}"/>
              </a:ext>
            </a:extLst>
          </p:cNvPr>
          <p:cNvSpPr>
            <a:spLocks noGrp="1"/>
          </p:cNvSpPr>
          <p:nvPr>
            <p:ph idx="1"/>
          </p:nvPr>
        </p:nvSpPr>
        <p:spPr/>
        <p:txBody>
          <a:bodyPr/>
          <a:lstStyle/>
          <a:p>
            <a:r>
              <a:rPr lang="en-US" dirty="0">
                <a:effectLst/>
              </a:rPr>
              <a:t>Overview: MCP is an open protocol (inspired by HTTP/JSON standards) for standardized management of context in LLM systems. It defines how to capture, compress, share, and inject dynamic context (e.g., chat history, embeddings, tool outputs) across components—ensuring LLMs stay coherent without exploding token limits.</a:t>
            </a:r>
          </a:p>
          <a:p>
            <a:endParaRPr lang="en-IN" dirty="0"/>
          </a:p>
        </p:txBody>
      </p:sp>
    </p:spTree>
    <p:extLst>
      <p:ext uri="{BB962C8B-B14F-4D97-AF65-F5344CB8AC3E}">
        <p14:creationId xmlns:p14="http://schemas.microsoft.com/office/powerpoint/2010/main" val="7774649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00ECF9-5DE5-39AD-D112-DE19EC6FC2D0}"/>
              </a:ext>
            </a:extLst>
          </p:cNvPr>
          <p:cNvSpPr>
            <a:spLocks noGrp="1"/>
          </p:cNvSpPr>
          <p:nvPr>
            <p:ph type="title"/>
          </p:nvPr>
        </p:nvSpPr>
        <p:spPr/>
        <p:txBody>
          <a:bodyPr>
            <a:normAutofit fontScale="90000"/>
          </a:bodyPr>
          <a:lstStyle/>
          <a:p>
            <a:r>
              <a:rPr lang="en-IN" dirty="0">
                <a:effectLst/>
              </a:rPr>
              <a:t/>
            </a:r>
            <a:br>
              <a:rPr lang="en-IN" dirty="0">
                <a:effectLst/>
              </a:rPr>
            </a:br>
            <a:r>
              <a:rPr lang="en-IN" dirty="0">
                <a:effectLst/>
              </a:rPr>
              <a:t>Why MCP?</a:t>
            </a:r>
            <a:br>
              <a:rPr lang="en-IN" dirty="0">
                <a:effectLst/>
              </a:rPr>
            </a:br>
            <a:endParaRPr lang="en-IN" dirty="0"/>
          </a:p>
        </p:txBody>
      </p:sp>
      <p:sp>
        <p:nvSpPr>
          <p:cNvPr id="4" name="Rectangle 1">
            <a:extLst>
              <a:ext uri="{FF2B5EF4-FFF2-40B4-BE49-F238E27FC236}">
                <a16:creationId xmlns:a16="http://schemas.microsoft.com/office/drawing/2014/main" xmlns="" id="{AB49D01A-EEAC-35E4-7185-C51137BE7962}"/>
              </a:ext>
            </a:extLst>
          </p:cNvPr>
          <p:cNvSpPr>
            <a:spLocks noGrp="1" noChangeArrowheads="1"/>
          </p:cNvSpPr>
          <p:nvPr>
            <p:ph idx="1"/>
          </p:nvPr>
        </p:nvSpPr>
        <p:spPr bwMode="auto">
          <a:xfrm>
            <a:off x="838200" y="1977926"/>
            <a:ext cx="1035853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LLMs are "stateless" by default (each call forgets prior context), leading to repetition/hallucinations.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MCP adds </a:t>
            </a:r>
            <a:r>
              <a:rPr kumimoji="0" lang="en-US" altLang="en-US" sz="1800" b="0" i="1" u="none" strike="noStrike" cap="none" normalizeH="0" baseline="0" dirty="0">
                <a:ln>
                  <a:noFill/>
                </a:ln>
                <a:solidFill>
                  <a:schemeClr val="tx1"/>
                </a:solidFill>
                <a:effectLst/>
                <a:latin typeface="Arial" panose="020B0604020202020204" pitchFamily="34" charset="0"/>
              </a:rPr>
              <a:t>protocol layers</a:t>
            </a:r>
            <a:r>
              <a:rPr kumimoji="0" lang="en-US" altLang="en-US" sz="1800" b="0" i="0" u="none" strike="noStrike" cap="none" normalizeH="0" baseline="0" dirty="0">
                <a:ln>
                  <a:noFill/>
                </a:ln>
                <a:solidFill>
                  <a:schemeClr val="tx1"/>
                </a:solidFill>
                <a:effectLst/>
                <a:latin typeface="Arial" panose="020B0604020202020204" pitchFamily="34" charset="0"/>
              </a:rPr>
              <a:t>: Capture (gather data), Compress (prune/summarize), Inject (feed to model), Persist (store for sessions). </a:t>
            </a:r>
          </a:p>
        </p:txBody>
      </p:sp>
    </p:spTree>
    <p:extLst>
      <p:ext uri="{BB962C8B-B14F-4D97-AF65-F5344CB8AC3E}">
        <p14:creationId xmlns:p14="http://schemas.microsoft.com/office/powerpoint/2010/main" val="9578134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E37366-3B84-9159-A2AC-F3A7220CC4DF}"/>
              </a:ext>
            </a:extLst>
          </p:cNvPr>
          <p:cNvSpPr>
            <a:spLocks noGrp="1"/>
          </p:cNvSpPr>
          <p:nvPr>
            <p:ph type="title"/>
          </p:nvPr>
        </p:nvSpPr>
        <p:spPr/>
        <p:txBody>
          <a:bodyPr>
            <a:normAutofit fontScale="90000"/>
          </a:bodyPr>
          <a:lstStyle/>
          <a:p>
            <a:r>
              <a:rPr lang="en-IN" dirty="0">
                <a:effectLst/>
              </a:rPr>
              <a:t/>
            </a:r>
            <a:br>
              <a:rPr lang="en-IN" dirty="0">
                <a:effectLst/>
              </a:rPr>
            </a:br>
            <a:r>
              <a:rPr lang="en-IN" dirty="0">
                <a:effectLst/>
              </a:rPr>
              <a:t>Key Benefits</a:t>
            </a:r>
            <a:br>
              <a:rPr lang="en-IN" dirty="0">
                <a:effectLst/>
              </a:rPr>
            </a:br>
            <a:endParaRPr lang="en-IN" dirty="0"/>
          </a:p>
        </p:txBody>
      </p:sp>
      <p:sp>
        <p:nvSpPr>
          <p:cNvPr id="4" name="Rectangle 1">
            <a:extLst>
              <a:ext uri="{FF2B5EF4-FFF2-40B4-BE49-F238E27FC236}">
                <a16:creationId xmlns:a16="http://schemas.microsoft.com/office/drawing/2014/main" xmlns="" id="{18B9F6C4-6A4C-BC45-2087-99FBEFCE1EF7}"/>
              </a:ext>
            </a:extLst>
          </p:cNvPr>
          <p:cNvSpPr>
            <a:spLocks noGrp="1" noChangeArrowheads="1"/>
          </p:cNvSpPr>
          <p:nvPr>
            <p:ph idx="1"/>
          </p:nvPr>
        </p:nvSpPr>
        <p:spPr bwMode="auto">
          <a:xfrm>
            <a:off x="502298" y="1838095"/>
            <a:ext cx="11353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Integrates with RAG (context from vectors), agents (tool-augmented state), </a:t>
            </a: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(chains as MCP flows).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Scales from local scripts to distributed apps (e.g., </a:t>
            </a:r>
            <a:r>
              <a:rPr kumimoji="0" lang="en-US" altLang="en-US" sz="1800" b="0" i="0" u="none" strike="noStrike" cap="none" normalizeH="0" baseline="0" dirty="0" err="1">
                <a:ln>
                  <a:noFill/>
                </a:ln>
                <a:solidFill>
                  <a:schemeClr val="tx1"/>
                </a:solidFill>
                <a:effectLst/>
                <a:latin typeface="Arial" panose="020B0604020202020204" pitchFamily="34" charset="0"/>
              </a:rPr>
              <a:t>VSCode</a:t>
            </a:r>
            <a:r>
              <a:rPr kumimoji="0" lang="en-US" altLang="en-US" sz="1800" b="0" i="0" u="none" strike="noStrike" cap="none" normalizeH="0" baseline="0" dirty="0">
                <a:ln>
                  <a:noFill/>
                </a:ln>
                <a:solidFill>
                  <a:schemeClr val="tx1"/>
                </a:solidFill>
                <a:effectLst/>
                <a:latin typeface="Arial" panose="020B0604020202020204" pitchFamily="34" charset="0"/>
              </a:rPr>
              <a:t> client ↔ cloud server). </a:t>
            </a:r>
          </a:p>
        </p:txBody>
      </p:sp>
      <p:sp>
        <p:nvSpPr>
          <p:cNvPr id="6" name="TextBox 5">
            <a:extLst>
              <a:ext uri="{FF2B5EF4-FFF2-40B4-BE49-F238E27FC236}">
                <a16:creationId xmlns:a16="http://schemas.microsoft.com/office/drawing/2014/main" xmlns="" id="{B9A963C6-8394-DC3D-6DE9-01C996A42891}"/>
              </a:ext>
            </a:extLst>
          </p:cNvPr>
          <p:cNvSpPr txBox="1"/>
          <p:nvPr/>
        </p:nvSpPr>
        <p:spPr>
          <a:xfrm>
            <a:off x="502298" y="4040356"/>
            <a:ext cx="10442510" cy="646331"/>
          </a:xfrm>
          <a:prstGeom prst="rect">
            <a:avLst/>
          </a:prstGeom>
          <a:noFill/>
        </p:spPr>
        <p:txBody>
          <a:bodyPr wrap="square">
            <a:spAutoFit/>
          </a:bodyPr>
          <a:lstStyle/>
          <a:p>
            <a:pPr>
              <a:buNone/>
            </a:pPr>
            <a:r>
              <a:rPr lang="en-US" dirty="0">
                <a:effectLst/>
              </a:rPr>
              <a:t>Analogy: Think of MCP as "TCP/IP for LLM brains"—it handles the "conversation memory" plumbing so you focus on prompts/models.</a:t>
            </a:r>
          </a:p>
        </p:txBody>
      </p:sp>
    </p:spTree>
    <p:extLst>
      <p:ext uri="{BB962C8B-B14F-4D97-AF65-F5344CB8AC3E}">
        <p14:creationId xmlns:p14="http://schemas.microsoft.com/office/powerpoint/2010/main" val="270448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EDE9E4-1249-DDCF-0725-789CCF56A3A8}"/>
              </a:ext>
            </a:extLst>
          </p:cNvPr>
          <p:cNvSpPr>
            <a:spLocks noGrp="1"/>
          </p:cNvSpPr>
          <p:nvPr>
            <p:ph type="title"/>
          </p:nvPr>
        </p:nvSpPr>
        <p:spPr/>
        <p:txBody>
          <a:bodyPr>
            <a:normAutofit fontScale="90000"/>
          </a:bodyPr>
          <a:lstStyle/>
          <a:p>
            <a:r>
              <a:rPr lang="en-IN" dirty="0">
                <a:effectLst/>
              </a:rPr>
              <a:t/>
            </a:r>
            <a:br>
              <a:rPr lang="en-IN" dirty="0">
                <a:effectLst/>
              </a:rPr>
            </a:br>
            <a:r>
              <a:rPr lang="en-IN" dirty="0">
                <a:effectLst/>
              </a:rPr>
              <a:t>Core Components of MCP</a:t>
            </a:r>
            <a:br>
              <a:rPr lang="en-IN" dirty="0">
                <a:effectLst/>
              </a:rPr>
            </a:br>
            <a:endParaRPr lang="en-IN" dirty="0"/>
          </a:p>
        </p:txBody>
      </p:sp>
      <p:sp>
        <p:nvSpPr>
          <p:cNvPr id="3" name="Content Placeholder 2">
            <a:extLst>
              <a:ext uri="{FF2B5EF4-FFF2-40B4-BE49-F238E27FC236}">
                <a16:creationId xmlns:a16="http://schemas.microsoft.com/office/drawing/2014/main" xmlns="" id="{BC114954-0EAC-AB55-F48D-094942D2574D}"/>
              </a:ext>
            </a:extLst>
          </p:cNvPr>
          <p:cNvSpPr>
            <a:spLocks noGrp="1"/>
          </p:cNvSpPr>
          <p:nvPr>
            <p:ph idx="1"/>
          </p:nvPr>
        </p:nvSpPr>
        <p:spPr>
          <a:xfrm>
            <a:off x="838200" y="1530220"/>
            <a:ext cx="10515600" cy="4646743"/>
          </a:xfrm>
        </p:spPr>
        <p:txBody>
          <a:bodyPr>
            <a:normAutofit fontScale="77500" lnSpcReduction="20000"/>
          </a:bodyPr>
          <a:lstStyle/>
          <a:p>
            <a:r>
              <a:rPr lang="en-IN" b="1" dirty="0"/>
              <a:t>Three Pillars</a:t>
            </a:r>
            <a:r>
              <a:rPr lang="en-IN" dirty="0"/>
              <a:t> (Modular Design): </a:t>
            </a:r>
            <a:r>
              <a:rPr lang="en-IN" b="1" dirty="0"/>
              <a:t>Client</a:t>
            </a:r>
            <a:r>
              <a:rPr lang="en-IN" dirty="0"/>
              <a:t>: The "front-end" initiator (e.g., your Python script in </a:t>
            </a:r>
            <a:r>
              <a:rPr lang="en-IN" dirty="0" err="1"/>
              <a:t>VSCode</a:t>
            </a:r>
            <a:r>
              <a:rPr lang="en-IN" dirty="0"/>
              <a:t>, a web app, or mobile UI).</a:t>
            </a:r>
          </a:p>
          <a:p>
            <a:pPr lvl="1"/>
            <a:r>
              <a:rPr lang="en-IN" dirty="0"/>
              <a:t>Responsibilities: Captures user inputs/history, serializes context (e.g., to JSON), sends requests via MCP endpoints.</a:t>
            </a:r>
          </a:p>
          <a:p>
            <a:pPr lvl="1"/>
            <a:r>
              <a:rPr lang="en-IN" dirty="0"/>
              <a:t>Example: A chat loop that bundles messages + embeddings.</a:t>
            </a:r>
          </a:p>
          <a:p>
            <a:pPr lvl="1"/>
            <a:endParaRPr lang="en-IN" dirty="0"/>
          </a:p>
          <a:p>
            <a:r>
              <a:rPr lang="en-IN" b="1" dirty="0"/>
              <a:t>Server</a:t>
            </a:r>
            <a:r>
              <a:rPr lang="en-IN" dirty="0"/>
              <a:t>: The "back-end" processor (e.g., a Flask/</a:t>
            </a:r>
            <a:r>
              <a:rPr lang="en-IN" dirty="0" err="1"/>
              <a:t>FastAPI</a:t>
            </a:r>
            <a:r>
              <a:rPr lang="en-IN" dirty="0"/>
              <a:t> app hosting your LLM or RAG index).</a:t>
            </a:r>
          </a:p>
          <a:p>
            <a:pPr lvl="1"/>
            <a:r>
              <a:rPr lang="en-IN" dirty="0"/>
              <a:t>Responsibilities: Receives context, compresses/prunes (e.g., via token counters or summarizers), injects into the model, returns enriched responses.</a:t>
            </a:r>
          </a:p>
          <a:p>
            <a:pPr lvl="1"/>
            <a:r>
              <a:rPr lang="en-IN" dirty="0"/>
              <a:t>Handles heavy lifting: Model inference, tool calls, persistence (e.g., in Redis/DB).</a:t>
            </a:r>
          </a:p>
          <a:p>
            <a:pPr lvl="1"/>
            <a:endParaRPr lang="en-IN" dirty="0"/>
          </a:p>
          <a:p>
            <a:r>
              <a:rPr lang="en-IN" b="1" dirty="0"/>
              <a:t>Host</a:t>
            </a:r>
            <a:r>
              <a:rPr lang="en-IN" dirty="0"/>
              <a:t>: The "orchestrator" environment (could be local machine or cloud like AWS/EC2).</a:t>
            </a:r>
          </a:p>
          <a:p>
            <a:pPr lvl="1"/>
            <a:r>
              <a:rPr lang="en-IN" dirty="0"/>
              <a:t>Ties client/server: Manages auth, scaling, and protocol compliance (e.g., MCP headers like X-Context-Tokens: 2048).</a:t>
            </a:r>
          </a:p>
          <a:p>
            <a:pPr lvl="1"/>
            <a:r>
              <a:rPr lang="en-IN" dirty="0"/>
              <a:t>Often overlaps with server in simple setups.</a:t>
            </a:r>
          </a:p>
          <a:p>
            <a:endParaRPr lang="en-IN" dirty="0"/>
          </a:p>
        </p:txBody>
      </p:sp>
    </p:spTree>
    <p:extLst>
      <p:ext uri="{BB962C8B-B14F-4D97-AF65-F5344CB8AC3E}">
        <p14:creationId xmlns:p14="http://schemas.microsoft.com/office/powerpoint/2010/main" val="28845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9703E5-C592-81B9-9C0A-FF356867FAE9}"/>
              </a:ext>
            </a:extLst>
          </p:cNvPr>
          <p:cNvSpPr>
            <a:spLocks noGrp="1"/>
          </p:cNvSpPr>
          <p:nvPr>
            <p:ph type="title"/>
          </p:nvPr>
        </p:nvSpPr>
        <p:spPr/>
        <p:txBody>
          <a:bodyPr>
            <a:normAutofit fontScale="90000"/>
          </a:bodyPr>
          <a:lstStyle/>
          <a:p>
            <a:r>
              <a:rPr lang="en-IN" dirty="0">
                <a:effectLst/>
              </a:rPr>
              <a:t/>
            </a:r>
            <a:br>
              <a:rPr lang="en-IN" dirty="0">
                <a:effectLst/>
              </a:rPr>
            </a:br>
            <a:r>
              <a:rPr lang="en-IN" dirty="0">
                <a:effectLst/>
              </a:rPr>
              <a:t>How They Interact:</a:t>
            </a:r>
            <a:br>
              <a:rPr lang="en-IN" dirty="0">
                <a:effectLst/>
              </a:rPr>
            </a:br>
            <a:endParaRPr lang="en-IN" dirty="0"/>
          </a:p>
        </p:txBody>
      </p:sp>
      <p:sp>
        <p:nvSpPr>
          <p:cNvPr id="4" name="Rectangle 1">
            <a:extLst>
              <a:ext uri="{FF2B5EF4-FFF2-40B4-BE49-F238E27FC236}">
                <a16:creationId xmlns:a16="http://schemas.microsoft.com/office/drawing/2014/main" xmlns="" id="{CB17D0DC-173A-2682-4A0A-2472D8F32C58}"/>
              </a:ext>
            </a:extLst>
          </p:cNvPr>
          <p:cNvSpPr>
            <a:spLocks noGrp="1" noChangeArrowheads="1"/>
          </p:cNvSpPr>
          <p:nvPr>
            <p:ph idx="1"/>
          </p:nvPr>
        </p:nvSpPr>
        <p:spPr bwMode="auto">
          <a:xfrm>
            <a:off x="838199" y="3124131"/>
            <a:ext cx="110684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Client → Server: POST /</a:t>
            </a:r>
            <a:r>
              <a:rPr kumimoji="0" lang="en-US" altLang="en-US" sz="1800" b="0" i="0" u="none" strike="noStrike" cap="none" normalizeH="0" baseline="0" dirty="0" err="1">
                <a:ln>
                  <a:noFill/>
                </a:ln>
                <a:solidFill>
                  <a:schemeClr val="tx1"/>
                </a:solidFill>
                <a:effectLst/>
                <a:latin typeface="Arial" panose="020B0604020202020204" pitchFamily="34" charset="0"/>
              </a:rPr>
              <a:t>mcp</a:t>
            </a:r>
            <a:r>
              <a:rPr kumimoji="0" lang="en-US" altLang="en-US" sz="1800" b="0" i="0" u="none" strike="noStrike" cap="none" normalizeH="0" baseline="0" dirty="0">
                <a:ln>
                  <a:noFill/>
                </a:ln>
                <a:solidFill>
                  <a:schemeClr val="tx1"/>
                </a:solidFill>
                <a:effectLst/>
                <a:latin typeface="Arial" panose="020B0604020202020204" pitchFamily="34" charset="0"/>
              </a:rPr>
              <a:t>/inject with JSON payload { "history": [...], "query": "..." }.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Server → Client: Response with { "reply": "...", "</a:t>
            </a:r>
            <a:r>
              <a:rPr kumimoji="0" lang="en-US" altLang="en-US" sz="1800" b="0" i="0" u="none" strike="noStrike" cap="none" normalizeH="0" baseline="0" dirty="0" err="1">
                <a:ln>
                  <a:noFill/>
                </a:ln>
                <a:solidFill>
                  <a:schemeClr val="tx1"/>
                </a:solidFill>
                <a:effectLst/>
                <a:latin typeface="Arial" panose="020B0604020202020204" pitchFamily="34" charset="0"/>
              </a:rPr>
              <a:t>compressed_context</a:t>
            </a:r>
            <a:r>
              <a:rPr kumimoji="0" lang="en-US" altLang="en-US" sz="1800" b="0" i="0" u="none" strike="noStrike" cap="none" normalizeH="0" baseline="0" dirty="0">
                <a:ln>
                  <a:noFill/>
                </a:ln>
                <a:solidFill>
                  <a:schemeClr val="tx1"/>
                </a:solidFill>
                <a:effectLst/>
                <a:latin typeface="Arial" panose="020B0604020202020204" pitchFamily="34" charset="0"/>
              </a:rPr>
              <a:t>": [...] }.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MCP Data Format</a:t>
            </a:r>
            <a:r>
              <a:rPr kumimoji="0" lang="en-US" altLang="en-US" sz="1800" b="0" i="0" u="none" strike="noStrike" cap="none" normalizeH="0" baseline="0" dirty="0">
                <a:ln>
                  <a:noFill/>
                </a:ln>
                <a:solidFill>
                  <a:schemeClr val="tx1"/>
                </a:solidFill>
                <a:effectLst/>
                <a:latin typeface="Arial" panose="020B0604020202020204" pitchFamily="34" charset="0"/>
              </a:rPr>
              <a:t>: Simple JSON schema—e.g., { "capture": { "messages": [] }, "compress": { "method": "truncate" }, "inject": { "prompt": "..." } }. </a:t>
            </a:r>
          </a:p>
        </p:txBody>
      </p:sp>
    </p:spTree>
    <p:extLst>
      <p:ext uri="{BB962C8B-B14F-4D97-AF65-F5344CB8AC3E}">
        <p14:creationId xmlns:p14="http://schemas.microsoft.com/office/powerpoint/2010/main" val="3444493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EFC384-4EE2-F7C4-31AD-7155D814FE27}"/>
              </a:ext>
            </a:extLst>
          </p:cNvPr>
          <p:cNvSpPr>
            <a:spLocks noGrp="1"/>
          </p:cNvSpPr>
          <p:nvPr>
            <p:ph type="title"/>
          </p:nvPr>
        </p:nvSpPr>
        <p:spPr/>
        <p:txBody>
          <a:bodyPr>
            <a:normAutofit fontScale="90000"/>
          </a:bodyPr>
          <a:lstStyle/>
          <a:p>
            <a:r>
              <a:rPr lang="en-US" dirty="0">
                <a:effectLst/>
              </a:rPr>
              <a:t/>
            </a:r>
            <a:br>
              <a:rPr lang="en-US" dirty="0">
                <a:effectLst/>
              </a:rPr>
            </a:br>
            <a:r>
              <a:rPr lang="en-US" dirty="0">
                <a:effectLst/>
              </a:rPr>
              <a:t>Local vs. Remote MCP – When &amp; Why?</a:t>
            </a:r>
            <a:br>
              <a:rPr lang="en-US" dirty="0">
                <a:effectLst/>
              </a:rPr>
            </a:br>
            <a:endParaRPr lang="en-IN" dirty="0"/>
          </a:p>
        </p:txBody>
      </p:sp>
      <p:sp>
        <p:nvSpPr>
          <p:cNvPr id="4" name="Rectangle 1">
            <a:extLst>
              <a:ext uri="{FF2B5EF4-FFF2-40B4-BE49-F238E27FC236}">
                <a16:creationId xmlns:a16="http://schemas.microsoft.com/office/drawing/2014/main" xmlns="" id="{78CDFEAD-7DAF-1236-06D9-07968F6C64A0}"/>
              </a:ext>
            </a:extLst>
          </p:cNvPr>
          <p:cNvSpPr>
            <a:spLocks noGrp="1" noChangeArrowheads="1"/>
          </p:cNvSpPr>
          <p:nvPr>
            <p:ph idx="1"/>
          </p:nvPr>
        </p:nvSpPr>
        <p:spPr bwMode="auto">
          <a:xfrm>
            <a:off x="838200" y="2708632"/>
            <a:ext cx="10515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Local MCP</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Setup</a:t>
            </a:r>
            <a:r>
              <a:rPr kumimoji="0" lang="en-US" altLang="en-US" sz="1800" b="0" i="0" u="none" strike="noStrike" cap="none" normalizeH="0" baseline="0" dirty="0">
                <a:ln>
                  <a:noFill/>
                </a:ln>
                <a:solidFill>
                  <a:schemeClr val="tx1"/>
                </a:solidFill>
                <a:effectLst/>
                <a:latin typeface="Arial" panose="020B0604020202020204" pitchFamily="34" charset="0"/>
              </a:rPr>
              <a:t>: Everything on one machine (e.g., your laptop in </a:t>
            </a:r>
            <a:r>
              <a:rPr kumimoji="0" lang="en-US" altLang="en-US" sz="1800" b="0" i="0" u="none" strike="noStrike" cap="none" normalizeH="0" baseline="0" dirty="0" err="1">
                <a:ln>
                  <a:noFill/>
                </a:ln>
                <a:solidFill>
                  <a:schemeClr val="tx1"/>
                </a:solidFill>
                <a:effectLst/>
                <a:latin typeface="Arial" panose="020B0604020202020204" pitchFamily="34" charset="0"/>
              </a:rPr>
              <a:t>mcp</a:t>
            </a:r>
            <a:r>
              <a:rPr kumimoji="0" lang="en-US" altLang="en-US" sz="1800" b="0" i="0" u="none" strike="noStrike" cap="none" normalizeH="0" baseline="0" dirty="0">
                <a:ln>
                  <a:noFill/>
                </a:ln>
                <a:solidFill>
                  <a:schemeClr val="tx1"/>
                </a:solidFill>
                <a:effectLst/>
                <a:latin typeface="Arial" panose="020B0604020202020204" pitchFamily="34" charset="0"/>
              </a:rPr>
              <a:t>-env). Client and server "co-located" in the same Python process—no network overhead.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Pros</a:t>
            </a:r>
            <a:r>
              <a:rPr kumimoji="0" lang="en-US" altLang="en-US" sz="1800" b="0" i="0" u="none" strike="noStrike" cap="none" normalizeH="0" baseline="0" dirty="0">
                <a:ln>
                  <a:noFill/>
                </a:ln>
                <a:solidFill>
                  <a:schemeClr val="tx1"/>
                </a:solidFill>
                <a:effectLst/>
                <a:latin typeface="Arial" panose="020B0604020202020204" pitchFamily="34" charset="0"/>
              </a:rPr>
              <a:t>: Fast prototyping, no auth/latency, ideal for offline dev (e.g., using local LLMs like Llama via </a:t>
            </a:r>
            <a:r>
              <a:rPr kumimoji="0" lang="en-US" altLang="en-US" sz="1800" b="0" i="0" u="none" strike="noStrike" cap="none" normalizeH="0" baseline="0" dirty="0" err="1">
                <a:ln>
                  <a:noFill/>
                </a:ln>
                <a:solidFill>
                  <a:schemeClr val="tx1"/>
                </a:solidFill>
                <a:effectLst/>
                <a:latin typeface="Arial" panose="020B0604020202020204" pitchFamily="34" charset="0"/>
              </a:rPr>
              <a:t>HuggingFace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a:t>
            </a:r>
            <a:r>
              <a:rPr kumimoji="0" lang="en-US" altLang="en-US" sz="1800" b="0" i="0" u="none" strike="noStrike" cap="none" normalizeH="0" baseline="0" dirty="0">
                <a:ln>
                  <a:noFill/>
                </a:ln>
                <a:solidFill>
                  <a:schemeClr val="tx1"/>
                </a:solidFill>
                <a:effectLst/>
                <a:latin typeface="Arial" panose="020B0604020202020204" pitchFamily="34" charset="0"/>
              </a:rPr>
              <a:t>: Doesn't scale; context persists only in-memory (or local files/DB).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Quick chat bots in Jupyter—perfect for our first examples.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 Flow</a:t>
            </a:r>
            <a:r>
              <a:rPr kumimoji="0" lang="en-US" altLang="en-US" sz="1800" b="0" i="0" u="none" strike="noStrike" cap="none" normalizeH="0" baseline="0" dirty="0">
                <a:ln>
                  <a:noFill/>
                </a:ln>
                <a:solidFill>
                  <a:schemeClr val="tx1"/>
                </a:solidFill>
                <a:effectLst/>
                <a:latin typeface="Arial" panose="020B0604020202020204" pitchFamily="34" charset="0"/>
              </a:rPr>
              <a:t>: Script captures input, compresses locally, injects to transformers pipeline.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53158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EA1F19-89BC-2341-4FA8-9BA2A7B6CAAA}"/>
              </a:ext>
            </a:extLst>
          </p:cNvPr>
          <p:cNvSpPr>
            <a:spLocks noGrp="1"/>
          </p:cNvSpPr>
          <p:nvPr>
            <p:ph type="title"/>
          </p:nvPr>
        </p:nvSpPr>
        <p:spPr/>
        <p:txBody>
          <a:bodyPr>
            <a:normAutofit fontScale="90000"/>
          </a:bodyPr>
          <a:lstStyle/>
          <a:p>
            <a:r>
              <a:rPr lang="en-US" dirty="0">
                <a:effectLst/>
              </a:rPr>
              <a:t/>
            </a:r>
            <a:br>
              <a:rPr lang="en-US" dirty="0">
                <a:effectLst/>
              </a:rPr>
            </a:br>
            <a:r>
              <a:rPr lang="en-US" dirty="0">
                <a:effectLst/>
              </a:rPr>
              <a:t>Local vs. Remote MCP – When &amp; Why?</a:t>
            </a:r>
            <a:br>
              <a:rPr lang="en-US" dirty="0">
                <a:effectLst/>
              </a:rPr>
            </a:br>
            <a:endParaRPr lang="en-IN" dirty="0"/>
          </a:p>
        </p:txBody>
      </p:sp>
      <p:sp>
        <p:nvSpPr>
          <p:cNvPr id="3" name="Content Placeholder 2">
            <a:extLst>
              <a:ext uri="{FF2B5EF4-FFF2-40B4-BE49-F238E27FC236}">
                <a16:creationId xmlns:a16="http://schemas.microsoft.com/office/drawing/2014/main" xmlns="" id="{EBED34A5-588D-BC1C-C574-FB521E97BDA6}"/>
              </a:ext>
            </a:extLst>
          </p:cNvPr>
          <p:cNvSpPr>
            <a:spLocks noGrp="1"/>
          </p:cNvSpPr>
          <p:nvPr>
            <p:ph idx="1"/>
          </p:nvPr>
        </p:nvSpPr>
        <p:spPr/>
        <p:txBody>
          <a:bodyPr>
            <a:normAutofit lnSpcReduction="10000"/>
          </a:bodyPr>
          <a:lstStyle/>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Remote MCP</a:t>
            </a:r>
            <a:r>
              <a:rPr lang="en-US" altLang="en-US" dirty="0">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Setup</a:t>
            </a:r>
            <a:r>
              <a:rPr lang="en-US" altLang="en-US" dirty="0">
                <a:latin typeface="Arial" panose="020B0604020202020204" pitchFamily="34" charset="0"/>
              </a:rPr>
              <a:t>: Client (</a:t>
            </a:r>
            <a:r>
              <a:rPr lang="en-US" altLang="en-US" dirty="0" err="1">
                <a:latin typeface="Arial" panose="020B0604020202020204" pitchFamily="34" charset="0"/>
              </a:rPr>
              <a:t>VSCode</a:t>
            </a:r>
            <a:r>
              <a:rPr lang="en-US" altLang="en-US" dirty="0">
                <a:latin typeface="Arial" panose="020B0604020202020204" pitchFamily="34" charset="0"/>
              </a:rPr>
              <a:t>) talks to a separate server (e.g., via API on localhost:8000 or cloud endpoint). Uses HTTP/</a:t>
            </a:r>
            <a:r>
              <a:rPr lang="en-US" altLang="en-US" dirty="0" err="1">
                <a:latin typeface="Arial" panose="020B0604020202020204" pitchFamily="34" charset="0"/>
              </a:rPr>
              <a:t>WebSockets</a:t>
            </a:r>
            <a:r>
              <a:rPr lang="en-US" altLang="en-US" dirty="0">
                <a:latin typeface="Arial" panose="020B0604020202020204" pitchFamily="34" charset="0"/>
              </a:rPr>
              <a:t> for MCP payloads. </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Pros</a:t>
            </a:r>
            <a:r>
              <a:rPr lang="en-US" altLang="en-US" dirty="0">
                <a:latin typeface="Arial" panose="020B0604020202020204" pitchFamily="34" charset="0"/>
              </a:rPr>
              <a:t>: Scalable (multi-user), persistent storage (e.g., cloud DB), integrates agents/tools across machines. </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Cons</a:t>
            </a:r>
            <a:r>
              <a:rPr lang="en-US" altLang="en-US" dirty="0">
                <a:latin typeface="Arial" panose="020B0604020202020204" pitchFamily="34" charset="0"/>
              </a:rPr>
              <a:t>: Network latency, needs API keys/error handling. </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Use Case</a:t>
            </a:r>
            <a:r>
              <a:rPr lang="en-US" altLang="en-US" dirty="0">
                <a:latin typeface="Arial" panose="020B0604020202020204" pitchFamily="34" charset="0"/>
              </a:rPr>
              <a:t>: Production chat apps (e.g., client in browser → server with GPU for inference). </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Transition</a:t>
            </a:r>
            <a:r>
              <a:rPr lang="en-US" altLang="en-US" dirty="0">
                <a:latin typeface="Arial" panose="020B0604020202020204" pitchFamily="34" charset="0"/>
              </a:rPr>
              <a:t>: We'll start local, then "remote-</a:t>
            </a:r>
            <a:r>
              <a:rPr lang="en-US" altLang="en-US" dirty="0" err="1">
                <a:latin typeface="Arial" panose="020B0604020202020204" pitchFamily="34" charset="0"/>
              </a:rPr>
              <a:t>ify</a:t>
            </a:r>
            <a:r>
              <a:rPr lang="en-US" altLang="en-US" dirty="0">
                <a:latin typeface="Arial" panose="020B0604020202020204" pitchFamily="34" charset="0"/>
              </a:rPr>
              <a:t>" by spinning up a simple server.</a:t>
            </a:r>
          </a:p>
          <a:p>
            <a:endParaRPr lang="en-IN" dirty="0"/>
          </a:p>
        </p:txBody>
      </p:sp>
    </p:spTree>
    <p:extLst>
      <p:ext uri="{BB962C8B-B14F-4D97-AF65-F5344CB8AC3E}">
        <p14:creationId xmlns:p14="http://schemas.microsoft.com/office/powerpoint/2010/main" val="3654498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B6815B-12F1-20E2-0671-BC1697082FE5}"/>
              </a:ext>
            </a:extLst>
          </p:cNvPr>
          <p:cNvSpPr>
            <a:spLocks noGrp="1"/>
          </p:cNvSpPr>
          <p:nvPr>
            <p:ph type="title"/>
          </p:nvPr>
        </p:nvSpPr>
        <p:spPr/>
        <p:txBody>
          <a:bodyPr>
            <a:normAutofit fontScale="90000"/>
          </a:bodyPr>
          <a:lstStyle/>
          <a:p>
            <a:r>
              <a:rPr lang="en-IN" dirty="0">
                <a:effectLst/>
              </a:rPr>
              <a:t/>
            </a:r>
            <a:br>
              <a:rPr lang="en-IN" dirty="0">
                <a:effectLst/>
              </a:rPr>
            </a:br>
            <a:r>
              <a:rPr lang="en-IN" dirty="0">
                <a:effectLst/>
              </a:rPr>
              <a:t>Comparison Table:</a:t>
            </a:r>
            <a:br>
              <a:rPr lang="en-IN" dirty="0">
                <a:effectLst/>
              </a:rPr>
            </a:br>
            <a:endParaRPr lang="en-IN" dirty="0"/>
          </a:p>
        </p:txBody>
      </p:sp>
      <p:graphicFrame>
        <p:nvGraphicFramePr>
          <p:cNvPr id="4" name="Content Placeholder 3">
            <a:extLst>
              <a:ext uri="{FF2B5EF4-FFF2-40B4-BE49-F238E27FC236}">
                <a16:creationId xmlns:a16="http://schemas.microsoft.com/office/drawing/2014/main" xmlns="" id="{599A2976-9267-63FB-A362-A460CC07AFFA}"/>
              </a:ext>
            </a:extLst>
          </p:cNvPr>
          <p:cNvGraphicFramePr>
            <a:graphicFrameLocks noGrp="1"/>
          </p:cNvGraphicFramePr>
          <p:nvPr>
            <p:ph idx="1"/>
          </p:nvPr>
        </p:nvGraphicFramePr>
        <p:xfrm>
          <a:off x="838200" y="2904014"/>
          <a:ext cx="10515600" cy="2194560"/>
        </p:xfrm>
        <a:graphic>
          <a:graphicData uri="http://schemas.openxmlformats.org/drawingml/2006/table">
            <a:tbl>
              <a:tblPr/>
              <a:tblGrid>
                <a:gridCol w="3505200">
                  <a:extLst>
                    <a:ext uri="{9D8B030D-6E8A-4147-A177-3AD203B41FA5}">
                      <a16:colId xmlns:a16="http://schemas.microsoft.com/office/drawing/2014/main" xmlns="" val="2050299600"/>
                    </a:ext>
                  </a:extLst>
                </a:gridCol>
                <a:gridCol w="3505200">
                  <a:extLst>
                    <a:ext uri="{9D8B030D-6E8A-4147-A177-3AD203B41FA5}">
                      <a16:colId xmlns:a16="http://schemas.microsoft.com/office/drawing/2014/main" xmlns="" val="2739449450"/>
                    </a:ext>
                  </a:extLst>
                </a:gridCol>
                <a:gridCol w="3505200">
                  <a:extLst>
                    <a:ext uri="{9D8B030D-6E8A-4147-A177-3AD203B41FA5}">
                      <a16:colId xmlns:a16="http://schemas.microsoft.com/office/drawing/2014/main" xmlns="" val="1294760561"/>
                    </a:ext>
                  </a:extLst>
                </a:gridCol>
              </a:tblGrid>
              <a:tr h="0">
                <a:tc>
                  <a:txBody>
                    <a:bodyPr/>
                    <a:lstStyle/>
                    <a:p>
                      <a:pPr>
                        <a:buNone/>
                      </a:pPr>
                      <a:r>
                        <a:rPr lang="en-IN"/>
                        <a:t>Aspect</a:t>
                      </a:r>
                    </a:p>
                  </a:txBody>
                  <a:tcPr anchor="ctr">
                    <a:lnL>
                      <a:noFill/>
                    </a:lnL>
                    <a:lnR>
                      <a:noFill/>
                    </a:lnR>
                    <a:lnT>
                      <a:noFill/>
                    </a:lnT>
                    <a:lnB>
                      <a:noFill/>
                    </a:lnB>
                    <a:noFill/>
                  </a:tcPr>
                </a:tc>
                <a:tc>
                  <a:txBody>
                    <a:bodyPr/>
                    <a:lstStyle/>
                    <a:p>
                      <a:pPr>
                        <a:buNone/>
                      </a:pPr>
                      <a:r>
                        <a:rPr lang="en-IN"/>
                        <a:t>Local MCP</a:t>
                      </a:r>
                    </a:p>
                  </a:txBody>
                  <a:tcPr anchor="ctr">
                    <a:lnL>
                      <a:noFill/>
                    </a:lnL>
                    <a:lnR>
                      <a:noFill/>
                    </a:lnR>
                    <a:lnT>
                      <a:noFill/>
                    </a:lnT>
                    <a:lnB>
                      <a:noFill/>
                    </a:lnB>
                    <a:noFill/>
                  </a:tcPr>
                </a:tc>
                <a:tc>
                  <a:txBody>
                    <a:bodyPr/>
                    <a:lstStyle/>
                    <a:p>
                      <a:pPr>
                        <a:buNone/>
                      </a:pPr>
                      <a:r>
                        <a:rPr lang="en-IN"/>
                        <a:t>Remote MCP</a:t>
                      </a:r>
                    </a:p>
                  </a:txBody>
                  <a:tcPr anchor="ctr">
                    <a:lnL>
                      <a:noFill/>
                    </a:lnL>
                    <a:lnR>
                      <a:noFill/>
                    </a:lnR>
                    <a:lnT>
                      <a:noFill/>
                    </a:lnT>
                    <a:lnB>
                      <a:noFill/>
                    </a:lnB>
                    <a:noFill/>
                  </a:tcPr>
                </a:tc>
                <a:extLst>
                  <a:ext uri="{0D108BD9-81ED-4DB2-BD59-A6C34878D82A}">
                    <a16:rowId xmlns:a16="http://schemas.microsoft.com/office/drawing/2014/main" xmlns="" val="3893656771"/>
                  </a:ext>
                </a:extLst>
              </a:tr>
              <a:tr h="0">
                <a:tc>
                  <a:txBody>
                    <a:bodyPr/>
                    <a:lstStyle/>
                    <a:p>
                      <a:pPr>
                        <a:buNone/>
                      </a:pPr>
                      <a:r>
                        <a:rPr lang="en-IN" b="1"/>
                        <a:t>Deployment</a:t>
                      </a:r>
                      <a:endParaRPr lang="en-IN"/>
                    </a:p>
                  </a:txBody>
                  <a:tcPr anchor="ctr">
                    <a:lnL>
                      <a:noFill/>
                    </a:lnL>
                    <a:lnR>
                      <a:noFill/>
                    </a:lnR>
                    <a:lnT>
                      <a:noFill/>
                    </a:lnT>
                    <a:lnB>
                      <a:noFill/>
                    </a:lnB>
                    <a:noFill/>
                  </a:tcPr>
                </a:tc>
                <a:tc>
                  <a:txBody>
                    <a:bodyPr/>
                    <a:lstStyle/>
                    <a:p>
                      <a:pPr>
                        <a:buNone/>
                      </a:pPr>
                      <a:r>
                        <a:rPr lang="en-IN"/>
                        <a:t>Single script/process</a:t>
                      </a:r>
                    </a:p>
                  </a:txBody>
                  <a:tcPr anchor="ctr">
                    <a:lnL>
                      <a:noFill/>
                    </a:lnL>
                    <a:lnR>
                      <a:noFill/>
                    </a:lnR>
                    <a:lnT>
                      <a:noFill/>
                    </a:lnT>
                    <a:lnB>
                      <a:noFill/>
                    </a:lnB>
                    <a:noFill/>
                  </a:tcPr>
                </a:tc>
                <a:tc>
                  <a:txBody>
                    <a:bodyPr/>
                    <a:lstStyle/>
                    <a:p>
                      <a:pPr>
                        <a:buNone/>
                      </a:pPr>
                      <a:r>
                        <a:rPr lang="en-IN"/>
                        <a:t>Client + Server (API calls)</a:t>
                      </a:r>
                    </a:p>
                  </a:txBody>
                  <a:tcPr anchor="ctr">
                    <a:lnL>
                      <a:noFill/>
                    </a:lnL>
                    <a:lnR>
                      <a:noFill/>
                    </a:lnR>
                    <a:lnT>
                      <a:noFill/>
                    </a:lnT>
                    <a:lnB>
                      <a:noFill/>
                    </a:lnB>
                    <a:noFill/>
                  </a:tcPr>
                </a:tc>
                <a:extLst>
                  <a:ext uri="{0D108BD9-81ED-4DB2-BD59-A6C34878D82A}">
                    <a16:rowId xmlns:a16="http://schemas.microsoft.com/office/drawing/2014/main" xmlns="" val="1200479591"/>
                  </a:ext>
                </a:extLst>
              </a:tr>
              <a:tr h="0">
                <a:tc>
                  <a:txBody>
                    <a:bodyPr/>
                    <a:lstStyle/>
                    <a:p>
                      <a:pPr>
                        <a:buNone/>
                      </a:pPr>
                      <a:r>
                        <a:rPr lang="en-IN" b="1"/>
                        <a:t>Speed</a:t>
                      </a:r>
                      <a:endParaRPr lang="en-IN"/>
                    </a:p>
                  </a:txBody>
                  <a:tcPr anchor="ctr">
                    <a:lnL>
                      <a:noFill/>
                    </a:lnL>
                    <a:lnR>
                      <a:noFill/>
                    </a:lnR>
                    <a:lnT>
                      <a:noFill/>
                    </a:lnT>
                    <a:lnB>
                      <a:noFill/>
                    </a:lnB>
                    <a:noFill/>
                  </a:tcPr>
                </a:tc>
                <a:tc>
                  <a:txBody>
                    <a:bodyPr/>
                    <a:lstStyle/>
                    <a:p>
                      <a:pPr>
                        <a:buNone/>
                      </a:pPr>
                      <a:r>
                        <a:rPr lang="en-IN"/>
                        <a:t>High (no net)</a:t>
                      </a:r>
                    </a:p>
                  </a:txBody>
                  <a:tcPr anchor="ctr">
                    <a:lnL>
                      <a:noFill/>
                    </a:lnL>
                    <a:lnR>
                      <a:noFill/>
                    </a:lnR>
                    <a:lnT>
                      <a:noFill/>
                    </a:lnT>
                    <a:lnB>
                      <a:noFill/>
                    </a:lnB>
                    <a:noFill/>
                  </a:tcPr>
                </a:tc>
                <a:tc>
                  <a:txBody>
                    <a:bodyPr/>
                    <a:lstStyle/>
                    <a:p>
                      <a:pPr>
                        <a:buNone/>
                      </a:pPr>
                      <a:r>
                        <a:rPr lang="en-IN"/>
                        <a:t>Medium (HTTP overhead)</a:t>
                      </a:r>
                    </a:p>
                  </a:txBody>
                  <a:tcPr anchor="ctr">
                    <a:lnL>
                      <a:noFill/>
                    </a:lnL>
                    <a:lnR>
                      <a:noFill/>
                    </a:lnR>
                    <a:lnT>
                      <a:noFill/>
                    </a:lnT>
                    <a:lnB>
                      <a:noFill/>
                    </a:lnB>
                    <a:noFill/>
                  </a:tcPr>
                </a:tc>
                <a:extLst>
                  <a:ext uri="{0D108BD9-81ED-4DB2-BD59-A6C34878D82A}">
                    <a16:rowId xmlns:a16="http://schemas.microsoft.com/office/drawing/2014/main" xmlns="" val="1410459919"/>
                  </a:ext>
                </a:extLst>
              </a:tr>
              <a:tr h="0">
                <a:tc>
                  <a:txBody>
                    <a:bodyPr/>
                    <a:lstStyle/>
                    <a:p>
                      <a:pPr>
                        <a:buNone/>
                      </a:pPr>
                      <a:r>
                        <a:rPr lang="en-IN" b="1"/>
                        <a:t>Persistence</a:t>
                      </a:r>
                      <a:endParaRPr lang="en-IN"/>
                    </a:p>
                  </a:txBody>
                  <a:tcPr anchor="ctr">
                    <a:lnL>
                      <a:noFill/>
                    </a:lnL>
                    <a:lnR>
                      <a:noFill/>
                    </a:lnR>
                    <a:lnT>
                      <a:noFill/>
                    </a:lnT>
                    <a:lnB>
                      <a:noFill/>
                    </a:lnB>
                    <a:noFill/>
                  </a:tcPr>
                </a:tc>
                <a:tc>
                  <a:txBody>
                    <a:bodyPr/>
                    <a:lstStyle/>
                    <a:p>
                      <a:pPr>
                        <a:buNone/>
                      </a:pPr>
                      <a:r>
                        <a:rPr lang="en-IN"/>
                        <a:t>In-memory/files</a:t>
                      </a:r>
                    </a:p>
                  </a:txBody>
                  <a:tcPr anchor="ctr">
                    <a:lnL>
                      <a:noFill/>
                    </a:lnL>
                    <a:lnR>
                      <a:noFill/>
                    </a:lnR>
                    <a:lnT>
                      <a:noFill/>
                    </a:lnT>
                    <a:lnB>
                      <a:noFill/>
                    </a:lnB>
                    <a:noFill/>
                  </a:tcPr>
                </a:tc>
                <a:tc>
                  <a:txBody>
                    <a:bodyPr/>
                    <a:lstStyle/>
                    <a:p>
                      <a:pPr>
                        <a:buNone/>
                      </a:pPr>
                      <a:r>
                        <a:rPr lang="en-IN"/>
                        <a:t>DB/Cloud (e.g., Redis)</a:t>
                      </a:r>
                    </a:p>
                  </a:txBody>
                  <a:tcPr anchor="ctr">
                    <a:lnL>
                      <a:noFill/>
                    </a:lnL>
                    <a:lnR>
                      <a:noFill/>
                    </a:lnR>
                    <a:lnT>
                      <a:noFill/>
                    </a:lnT>
                    <a:lnB>
                      <a:noFill/>
                    </a:lnB>
                    <a:noFill/>
                  </a:tcPr>
                </a:tc>
                <a:extLst>
                  <a:ext uri="{0D108BD9-81ED-4DB2-BD59-A6C34878D82A}">
                    <a16:rowId xmlns:a16="http://schemas.microsoft.com/office/drawing/2014/main" xmlns="" val="3955859295"/>
                  </a:ext>
                </a:extLst>
              </a:tr>
              <a:tr h="0">
                <a:tc>
                  <a:txBody>
                    <a:bodyPr/>
                    <a:lstStyle/>
                    <a:p>
                      <a:pPr>
                        <a:buNone/>
                      </a:pPr>
                      <a:r>
                        <a:rPr lang="en-IN" b="1"/>
                        <a:t>Scalability</a:t>
                      </a:r>
                      <a:endParaRPr lang="en-IN"/>
                    </a:p>
                  </a:txBody>
                  <a:tcPr anchor="ctr">
                    <a:lnL>
                      <a:noFill/>
                    </a:lnL>
                    <a:lnR>
                      <a:noFill/>
                    </a:lnR>
                    <a:lnT>
                      <a:noFill/>
                    </a:lnT>
                    <a:lnB>
                      <a:noFill/>
                    </a:lnB>
                    <a:noFill/>
                  </a:tcPr>
                </a:tc>
                <a:tc>
                  <a:txBody>
                    <a:bodyPr/>
                    <a:lstStyle/>
                    <a:p>
                      <a:pPr>
                        <a:buNone/>
                      </a:pPr>
                      <a:r>
                        <a:rPr lang="en-IN"/>
                        <a:t>Personal prototypes</a:t>
                      </a:r>
                    </a:p>
                  </a:txBody>
                  <a:tcPr anchor="ctr">
                    <a:lnL>
                      <a:noFill/>
                    </a:lnL>
                    <a:lnR>
                      <a:noFill/>
                    </a:lnR>
                    <a:lnT>
                      <a:noFill/>
                    </a:lnT>
                    <a:lnB>
                      <a:noFill/>
                    </a:lnB>
                    <a:noFill/>
                  </a:tcPr>
                </a:tc>
                <a:tc>
                  <a:txBody>
                    <a:bodyPr/>
                    <a:lstStyle/>
                    <a:p>
                      <a:pPr>
                        <a:buNone/>
                      </a:pPr>
                      <a:r>
                        <a:rPr lang="en-IN"/>
                        <a:t>Multi-user/production</a:t>
                      </a:r>
                    </a:p>
                  </a:txBody>
                  <a:tcPr anchor="ctr">
                    <a:lnL>
                      <a:noFill/>
                    </a:lnL>
                    <a:lnR>
                      <a:noFill/>
                    </a:lnR>
                    <a:lnT>
                      <a:noFill/>
                    </a:lnT>
                    <a:lnB>
                      <a:noFill/>
                    </a:lnB>
                    <a:noFill/>
                  </a:tcPr>
                </a:tc>
                <a:extLst>
                  <a:ext uri="{0D108BD9-81ED-4DB2-BD59-A6C34878D82A}">
                    <a16:rowId xmlns:a16="http://schemas.microsoft.com/office/drawing/2014/main" xmlns="" val="2810758353"/>
                  </a:ext>
                </a:extLst>
              </a:tr>
              <a:tr h="0">
                <a:tc>
                  <a:txBody>
                    <a:bodyPr/>
                    <a:lstStyle/>
                    <a:p>
                      <a:pPr>
                        <a:buNone/>
                      </a:pPr>
                      <a:r>
                        <a:rPr lang="en-IN" b="1"/>
                        <a:t>Tools Needed</a:t>
                      </a:r>
                      <a:endParaRPr lang="en-IN"/>
                    </a:p>
                  </a:txBody>
                  <a:tcPr anchor="ctr">
                    <a:lnL>
                      <a:noFill/>
                    </a:lnL>
                    <a:lnR>
                      <a:noFill/>
                    </a:lnR>
                    <a:lnT>
                      <a:noFill/>
                    </a:lnT>
                    <a:lnB>
                      <a:noFill/>
                    </a:lnB>
                    <a:noFill/>
                  </a:tcPr>
                </a:tc>
                <a:tc>
                  <a:txBody>
                    <a:bodyPr/>
                    <a:lstStyle/>
                    <a:p>
                      <a:pPr>
                        <a:buNone/>
                      </a:pPr>
                      <a:r>
                        <a:rPr lang="en-IN"/>
                        <a:t>Basic Python libs</a:t>
                      </a:r>
                    </a:p>
                  </a:txBody>
                  <a:tcPr anchor="ctr">
                    <a:lnL>
                      <a:noFill/>
                    </a:lnL>
                    <a:lnR>
                      <a:noFill/>
                    </a:lnR>
                    <a:lnT>
                      <a:noFill/>
                    </a:lnT>
                    <a:lnB>
                      <a:noFill/>
                    </a:lnB>
                    <a:noFill/>
                  </a:tcPr>
                </a:tc>
                <a:tc>
                  <a:txBody>
                    <a:bodyPr/>
                    <a:lstStyle/>
                    <a:p>
                      <a:pPr>
                        <a:buNone/>
                      </a:pPr>
                      <a:r>
                        <a:rPr lang="en-IN" dirty="0" err="1"/>
                        <a:t>FastAPI</a:t>
                      </a:r>
                      <a:r>
                        <a:rPr lang="en-IN" dirty="0"/>
                        <a:t>, requests</a:t>
                      </a:r>
                    </a:p>
                  </a:txBody>
                  <a:tcPr anchor="ctr">
                    <a:lnL>
                      <a:noFill/>
                    </a:lnL>
                    <a:lnR>
                      <a:noFill/>
                    </a:lnR>
                    <a:lnT>
                      <a:noFill/>
                    </a:lnT>
                    <a:lnB>
                      <a:noFill/>
                    </a:lnB>
                    <a:noFill/>
                  </a:tcPr>
                </a:tc>
                <a:extLst>
                  <a:ext uri="{0D108BD9-81ED-4DB2-BD59-A6C34878D82A}">
                    <a16:rowId xmlns:a16="http://schemas.microsoft.com/office/drawing/2014/main" xmlns="" val="2973792405"/>
                  </a:ext>
                </a:extLst>
              </a:tr>
            </a:tbl>
          </a:graphicData>
        </a:graphic>
      </p:graphicFrame>
    </p:spTree>
    <p:extLst>
      <p:ext uri="{BB962C8B-B14F-4D97-AF65-F5344CB8AC3E}">
        <p14:creationId xmlns:p14="http://schemas.microsoft.com/office/powerpoint/2010/main" val="1870965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C554D4-E231-2449-8093-95C39095F848}"/>
              </a:ext>
            </a:extLst>
          </p:cNvPr>
          <p:cNvSpPr>
            <a:spLocks noGrp="1"/>
          </p:cNvSpPr>
          <p:nvPr>
            <p:ph type="title"/>
          </p:nvPr>
        </p:nvSpPr>
        <p:spPr/>
        <p:txBody>
          <a:bodyPr/>
          <a:lstStyle/>
          <a:p>
            <a:r>
              <a:rPr lang="en-IN" dirty="0"/>
              <a:t>MCP Server Transport — STDIO vs TCP</a:t>
            </a:r>
          </a:p>
        </p:txBody>
      </p:sp>
      <p:sp>
        <p:nvSpPr>
          <p:cNvPr id="3" name="Content Placeholder 2">
            <a:extLst>
              <a:ext uri="{FF2B5EF4-FFF2-40B4-BE49-F238E27FC236}">
                <a16:creationId xmlns:a16="http://schemas.microsoft.com/office/drawing/2014/main" xmlns="" id="{1EA5BBFF-150C-9E64-18A4-26A56D0B94F0}"/>
              </a:ext>
            </a:extLst>
          </p:cNvPr>
          <p:cNvSpPr>
            <a:spLocks noGrp="1"/>
          </p:cNvSpPr>
          <p:nvPr>
            <p:ph idx="1"/>
          </p:nvPr>
        </p:nvSpPr>
        <p:spPr/>
        <p:txBody>
          <a:bodyPr/>
          <a:lstStyle/>
          <a:p>
            <a:r>
              <a:rPr lang="en-IN" dirty="0"/>
              <a:t>STDIO transport</a:t>
            </a:r>
          </a:p>
          <a:p>
            <a:r>
              <a:rPr lang="en-US" b="1" dirty="0"/>
              <a:t>What it is:</a:t>
            </a:r>
          </a:p>
          <a:p>
            <a:r>
              <a:rPr lang="en-US" b="1" dirty="0"/>
              <a:t>STDIO</a:t>
            </a:r>
            <a:r>
              <a:rPr lang="en-US" dirty="0"/>
              <a:t> stands for </a:t>
            </a:r>
            <a:r>
              <a:rPr lang="en-US" b="1" dirty="0"/>
              <a:t>Standard Input / Standard Output</a:t>
            </a:r>
            <a:r>
              <a:rPr lang="en-US" dirty="0"/>
              <a:t>.</a:t>
            </a:r>
          </a:p>
          <a:p>
            <a:r>
              <a:rPr lang="en-US" dirty="0"/>
              <a:t>Every program in your OS has a standard “pipe”:</a:t>
            </a:r>
          </a:p>
          <a:p>
            <a:pPr lvl="1"/>
            <a:r>
              <a:rPr lang="en-US" b="1" dirty="0"/>
              <a:t>stdin</a:t>
            </a:r>
            <a:r>
              <a:rPr lang="en-US" dirty="0"/>
              <a:t> → input stream (keyboard or another program can write here)</a:t>
            </a:r>
          </a:p>
          <a:p>
            <a:pPr lvl="1"/>
            <a:r>
              <a:rPr lang="en-US" b="1" dirty="0" err="1"/>
              <a:t>stdout</a:t>
            </a:r>
            <a:r>
              <a:rPr lang="en-US" dirty="0"/>
              <a:t> → output stream (console or another program can read from here)</a:t>
            </a:r>
          </a:p>
          <a:p>
            <a:r>
              <a:rPr lang="en-US" dirty="0" err="1"/>
              <a:t>FastMCP</a:t>
            </a:r>
            <a:r>
              <a:rPr lang="en-US" dirty="0"/>
              <a:t> can use this pipe to talk </a:t>
            </a:r>
            <a:r>
              <a:rPr lang="en-US" b="1" dirty="0"/>
              <a:t>directly to the parent process</a:t>
            </a:r>
            <a:r>
              <a:rPr lang="en-US" dirty="0"/>
              <a:t>.</a:t>
            </a:r>
          </a:p>
          <a:p>
            <a:endParaRPr lang="en-IN" dirty="0"/>
          </a:p>
        </p:txBody>
      </p:sp>
    </p:spTree>
    <p:extLst>
      <p:ext uri="{BB962C8B-B14F-4D97-AF65-F5344CB8AC3E}">
        <p14:creationId xmlns:p14="http://schemas.microsoft.com/office/powerpoint/2010/main" val="680348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6A6724-7633-E48F-2D88-E9E1B40E90ED}"/>
              </a:ext>
            </a:extLst>
          </p:cNvPr>
          <p:cNvSpPr>
            <a:spLocks noGrp="1"/>
          </p:cNvSpPr>
          <p:nvPr>
            <p:ph type="title"/>
          </p:nvPr>
        </p:nvSpPr>
        <p:spPr/>
        <p:txBody>
          <a:bodyPr/>
          <a:lstStyle/>
          <a:p>
            <a:r>
              <a:rPr lang="en-US" dirty="0"/>
              <a:t>How it works in MCP:</a:t>
            </a:r>
            <a:endParaRPr lang="en-IN" dirty="0"/>
          </a:p>
        </p:txBody>
      </p:sp>
      <p:sp>
        <p:nvSpPr>
          <p:cNvPr id="3" name="Content Placeholder 2">
            <a:extLst>
              <a:ext uri="{FF2B5EF4-FFF2-40B4-BE49-F238E27FC236}">
                <a16:creationId xmlns:a16="http://schemas.microsoft.com/office/drawing/2014/main" xmlns="" id="{0C56CA31-7815-1382-3464-B03F70396B06}"/>
              </a:ext>
            </a:extLst>
          </p:cNvPr>
          <p:cNvSpPr>
            <a:spLocks noGrp="1"/>
          </p:cNvSpPr>
          <p:nvPr>
            <p:ph idx="1"/>
          </p:nvPr>
        </p:nvSpPr>
        <p:spPr/>
        <p:txBody>
          <a:bodyPr>
            <a:normAutofit lnSpcReduction="10000"/>
          </a:bodyPr>
          <a:lstStyle/>
          <a:p>
            <a:r>
              <a:rPr lang="en-IN" dirty="0"/>
              <a:t>ChatGPT (client in VS Code)</a:t>
            </a:r>
          </a:p>
          <a:p>
            <a:r>
              <a:rPr lang="en-IN" dirty="0"/>
              <a:t>       |</a:t>
            </a:r>
          </a:p>
          <a:p>
            <a:r>
              <a:rPr lang="en-IN" dirty="0"/>
              <a:t>       | writes JSON requests</a:t>
            </a:r>
          </a:p>
          <a:p>
            <a:r>
              <a:rPr lang="en-IN" dirty="0"/>
              <a:t>       v</a:t>
            </a:r>
          </a:p>
          <a:p>
            <a:r>
              <a:rPr lang="en-IN" dirty="0"/>
              <a:t>MCP Server (running as subprocess)</a:t>
            </a:r>
          </a:p>
          <a:p>
            <a:r>
              <a:rPr lang="en-IN" dirty="0"/>
              <a:t>       |</a:t>
            </a:r>
          </a:p>
          <a:p>
            <a:r>
              <a:rPr lang="en-IN" dirty="0"/>
              <a:t>       | writes JSON responses</a:t>
            </a:r>
          </a:p>
          <a:p>
            <a:r>
              <a:rPr lang="en-IN" dirty="0"/>
              <a:t>       v</a:t>
            </a:r>
          </a:p>
          <a:p>
            <a:r>
              <a:rPr lang="en-IN" dirty="0"/>
              <a:t>ChatGPT (receives results)</a:t>
            </a:r>
          </a:p>
          <a:p>
            <a:endParaRPr lang="en-IN" dirty="0"/>
          </a:p>
        </p:txBody>
      </p:sp>
    </p:spTree>
    <p:extLst>
      <p:ext uri="{BB962C8B-B14F-4D97-AF65-F5344CB8AC3E}">
        <p14:creationId xmlns:p14="http://schemas.microsoft.com/office/powerpoint/2010/main" val="945383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58916BD-8A31-C193-203B-003A48E120AF}"/>
              </a:ext>
            </a:extLst>
          </p:cNvPr>
          <p:cNvSpPr>
            <a:spLocks noGrp="1"/>
          </p:cNvSpPr>
          <p:nvPr>
            <p:ph idx="1"/>
          </p:nvPr>
        </p:nvSpPr>
        <p:spPr/>
        <p:txBody>
          <a:bodyPr>
            <a:normAutofit fontScale="92500"/>
          </a:bodyPr>
          <a:lstStyle/>
          <a:p>
            <a:r>
              <a:rPr lang="en-US" b="1" dirty="0"/>
              <a:t>The server runs inside the IDE process</a:t>
            </a:r>
            <a:r>
              <a:rPr lang="en-US" dirty="0"/>
              <a:t> (or as a subprocess)</a:t>
            </a:r>
          </a:p>
          <a:p>
            <a:r>
              <a:rPr lang="en-US" dirty="0"/>
              <a:t>Communication is </a:t>
            </a:r>
            <a:r>
              <a:rPr lang="en-US" b="1" dirty="0"/>
              <a:t>direct</a:t>
            </a:r>
            <a:r>
              <a:rPr lang="en-US" dirty="0"/>
              <a:t> using STDIO</a:t>
            </a:r>
          </a:p>
          <a:p>
            <a:r>
              <a:rPr lang="en-US" b="1" dirty="0"/>
              <a:t>No networking</a:t>
            </a:r>
            <a:r>
              <a:rPr lang="en-US" dirty="0"/>
              <a:t>, so it’s fast and secure</a:t>
            </a:r>
          </a:p>
          <a:p>
            <a:r>
              <a:rPr lang="en-US" b="1" dirty="0"/>
              <a:t>Only works locally</a:t>
            </a:r>
            <a:r>
              <a:rPr lang="en-US" dirty="0"/>
              <a:t> — client must be in same process or spawned by the IDE</a:t>
            </a:r>
          </a:p>
          <a:p>
            <a:r>
              <a:rPr lang="en-US" b="1" dirty="0"/>
              <a:t>Example</a:t>
            </a:r>
          </a:p>
          <a:p>
            <a:r>
              <a:rPr lang="en-US" dirty="0"/>
              <a:t>Think of STDIO like a </a:t>
            </a:r>
            <a:r>
              <a:rPr lang="en-US" b="1" dirty="0"/>
              <a:t>walkie-talkie inside the same room</a:t>
            </a:r>
            <a:r>
              <a:rPr lang="en-US" dirty="0"/>
              <a:t>.</a:t>
            </a:r>
          </a:p>
          <a:p>
            <a:r>
              <a:rPr lang="en-US" dirty="0"/>
              <a:t>You and your friend are in the same room; you pass notes back and forth.</a:t>
            </a:r>
          </a:p>
          <a:p>
            <a:r>
              <a:rPr lang="en-US" dirty="0"/>
              <a:t>Fast, safe, but only works in that room.</a:t>
            </a:r>
          </a:p>
          <a:p>
            <a:endParaRPr lang="en-IN" dirty="0"/>
          </a:p>
        </p:txBody>
      </p:sp>
    </p:spTree>
    <p:extLst>
      <p:ext uri="{BB962C8B-B14F-4D97-AF65-F5344CB8AC3E}">
        <p14:creationId xmlns:p14="http://schemas.microsoft.com/office/powerpoint/2010/main" val="3134537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2859C7-0F1F-092A-6F76-6CB3E556E9E3}"/>
              </a:ext>
            </a:extLst>
          </p:cNvPr>
          <p:cNvSpPr>
            <a:spLocks noGrp="1"/>
          </p:cNvSpPr>
          <p:nvPr>
            <p:ph type="title"/>
          </p:nvPr>
        </p:nvSpPr>
        <p:spPr/>
        <p:txBody>
          <a:bodyPr/>
          <a:lstStyle/>
          <a:p>
            <a:r>
              <a:rPr lang="en-IN" dirty="0"/>
              <a:t>TCP transport</a:t>
            </a:r>
          </a:p>
        </p:txBody>
      </p:sp>
      <p:sp>
        <p:nvSpPr>
          <p:cNvPr id="3" name="Content Placeholder 2">
            <a:extLst>
              <a:ext uri="{FF2B5EF4-FFF2-40B4-BE49-F238E27FC236}">
                <a16:creationId xmlns:a16="http://schemas.microsoft.com/office/drawing/2014/main" xmlns="" id="{E820C310-8EAB-08DE-B587-E930B2EE6ECC}"/>
              </a:ext>
            </a:extLst>
          </p:cNvPr>
          <p:cNvSpPr>
            <a:spLocks noGrp="1"/>
          </p:cNvSpPr>
          <p:nvPr>
            <p:ph idx="1"/>
          </p:nvPr>
        </p:nvSpPr>
        <p:spPr/>
        <p:txBody>
          <a:bodyPr/>
          <a:lstStyle/>
          <a:p>
            <a:r>
              <a:rPr lang="en-US" b="1" dirty="0"/>
              <a:t>What it is:</a:t>
            </a:r>
          </a:p>
          <a:p>
            <a:r>
              <a:rPr lang="en-US" b="1" dirty="0"/>
              <a:t>TCP</a:t>
            </a:r>
            <a:r>
              <a:rPr lang="en-US" dirty="0"/>
              <a:t> stands for </a:t>
            </a:r>
            <a:r>
              <a:rPr lang="en-US" b="1" dirty="0"/>
              <a:t>Transmission Control Protocol</a:t>
            </a:r>
            <a:r>
              <a:rPr lang="en-US" dirty="0"/>
              <a:t>.</a:t>
            </a:r>
          </a:p>
          <a:p>
            <a:r>
              <a:rPr lang="en-US" dirty="0"/>
              <a:t>It’s a networking protocol that lets one program talk to another </a:t>
            </a:r>
            <a:r>
              <a:rPr lang="en-US" b="1" dirty="0"/>
              <a:t>over IP addresses and ports</a:t>
            </a:r>
            <a:r>
              <a:rPr lang="en-US" dirty="0"/>
              <a:t>.</a:t>
            </a:r>
          </a:p>
          <a:p>
            <a:r>
              <a:rPr lang="en-US" dirty="0" err="1"/>
              <a:t>FastMCP</a:t>
            </a:r>
            <a:r>
              <a:rPr lang="en-US" dirty="0"/>
              <a:t> can use TCP to let </a:t>
            </a:r>
            <a:r>
              <a:rPr lang="en-US" b="1" dirty="0"/>
              <a:t>any client connect</a:t>
            </a:r>
            <a:r>
              <a:rPr lang="en-US" dirty="0"/>
              <a:t>, even if it’s on another machine.</a:t>
            </a:r>
          </a:p>
          <a:p>
            <a:endParaRPr lang="en-IN" dirty="0"/>
          </a:p>
        </p:txBody>
      </p:sp>
    </p:spTree>
    <p:extLst>
      <p:ext uri="{BB962C8B-B14F-4D97-AF65-F5344CB8AC3E}">
        <p14:creationId xmlns:p14="http://schemas.microsoft.com/office/powerpoint/2010/main" val="503262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2F023B-2F71-281C-2E11-673CFABD6B17}"/>
              </a:ext>
            </a:extLst>
          </p:cNvPr>
          <p:cNvSpPr>
            <a:spLocks noGrp="1"/>
          </p:cNvSpPr>
          <p:nvPr>
            <p:ph type="title"/>
          </p:nvPr>
        </p:nvSpPr>
        <p:spPr/>
        <p:txBody>
          <a:bodyPr/>
          <a:lstStyle/>
          <a:p>
            <a:r>
              <a:rPr lang="en-US"/>
              <a:t>How it works in MCP:</a:t>
            </a:r>
            <a:endParaRPr lang="en-IN"/>
          </a:p>
        </p:txBody>
      </p:sp>
      <p:sp>
        <p:nvSpPr>
          <p:cNvPr id="3" name="Content Placeholder 2">
            <a:extLst>
              <a:ext uri="{FF2B5EF4-FFF2-40B4-BE49-F238E27FC236}">
                <a16:creationId xmlns:a16="http://schemas.microsoft.com/office/drawing/2014/main" xmlns="" id="{12380D0E-C1FD-5F0B-0BAE-3170696187E5}"/>
              </a:ext>
            </a:extLst>
          </p:cNvPr>
          <p:cNvSpPr>
            <a:spLocks noGrp="1"/>
          </p:cNvSpPr>
          <p:nvPr>
            <p:ph idx="1"/>
          </p:nvPr>
        </p:nvSpPr>
        <p:spPr/>
        <p:txBody>
          <a:bodyPr>
            <a:normAutofit lnSpcReduction="10000"/>
          </a:bodyPr>
          <a:lstStyle/>
          <a:p>
            <a:r>
              <a:rPr lang="en-US" dirty="0"/>
              <a:t>Python Client / Another Agent</a:t>
            </a:r>
          </a:p>
          <a:p>
            <a:r>
              <a:rPr lang="en-US" dirty="0"/>
              <a:t>       |</a:t>
            </a:r>
          </a:p>
          <a:p>
            <a:r>
              <a:rPr lang="en-US" dirty="0"/>
              <a:t>       | TCP connection → 127.0.0.1:5000 (</a:t>
            </a:r>
            <a:r>
              <a:rPr lang="en-US" dirty="0" err="1"/>
              <a:t>host:port</a:t>
            </a:r>
            <a:r>
              <a:rPr lang="en-US" dirty="0"/>
              <a:t>)</a:t>
            </a:r>
          </a:p>
          <a:p>
            <a:r>
              <a:rPr lang="en-US" dirty="0"/>
              <a:t>       v</a:t>
            </a:r>
          </a:p>
          <a:p>
            <a:r>
              <a:rPr lang="en-US" dirty="0"/>
              <a:t>MCP Server (can be on same machine or different)</a:t>
            </a:r>
          </a:p>
          <a:p>
            <a:r>
              <a:rPr lang="en-US" dirty="0"/>
              <a:t>       |</a:t>
            </a:r>
          </a:p>
          <a:p>
            <a:r>
              <a:rPr lang="en-US" dirty="0"/>
              <a:t>       | Sends back tool results</a:t>
            </a:r>
          </a:p>
          <a:p>
            <a:r>
              <a:rPr lang="en-US" dirty="0"/>
              <a:t>       v</a:t>
            </a:r>
          </a:p>
          <a:p>
            <a:r>
              <a:rPr lang="en-US" dirty="0"/>
              <a:t>Python Client receives result</a:t>
            </a:r>
          </a:p>
          <a:p>
            <a:endParaRPr lang="en-IN" dirty="0"/>
          </a:p>
        </p:txBody>
      </p:sp>
    </p:spTree>
    <p:extLst>
      <p:ext uri="{BB962C8B-B14F-4D97-AF65-F5344CB8AC3E}">
        <p14:creationId xmlns:p14="http://schemas.microsoft.com/office/powerpoint/2010/main" val="4016316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AF6FE82-AAEB-44DF-C0B2-12F9C85ED11E}"/>
              </a:ext>
            </a:extLst>
          </p:cNvPr>
          <p:cNvSpPr>
            <a:spLocks noGrp="1"/>
          </p:cNvSpPr>
          <p:nvPr>
            <p:ph idx="1"/>
          </p:nvPr>
        </p:nvSpPr>
        <p:spPr/>
        <p:txBody>
          <a:bodyPr>
            <a:normAutofit fontScale="92500" lnSpcReduction="10000"/>
          </a:bodyPr>
          <a:lstStyle/>
          <a:p>
            <a:r>
              <a:rPr lang="en-US" b="1" dirty="0"/>
              <a:t>Multiple clients can connect at the same time</a:t>
            </a:r>
            <a:endParaRPr lang="en-US" dirty="0"/>
          </a:p>
          <a:p>
            <a:r>
              <a:rPr lang="en-US" dirty="0"/>
              <a:t>Can run on </a:t>
            </a:r>
            <a:r>
              <a:rPr lang="en-US" b="1" dirty="0"/>
              <a:t>different machines</a:t>
            </a:r>
            <a:endParaRPr lang="en-US" dirty="0"/>
          </a:p>
          <a:p>
            <a:r>
              <a:rPr lang="en-US" dirty="0"/>
              <a:t>Slightly slower than STDIO (network overhead)</a:t>
            </a:r>
          </a:p>
          <a:p>
            <a:r>
              <a:rPr lang="en-US" dirty="0"/>
              <a:t>Must manage host/port, firewall, security</a:t>
            </a:r>
          </a:p>
          <a:p>
            <a:r>
              <a:rPr lang="en-US" b="1" dirty="0"/>
              <a:t>Example</a:t>
            </a:r>
          </a:p>
          <a:p>
            <a:r>
              <a:rPr lang="en-US" dirty="0"/>
              <a:t>Think of TCP like a </a:t>
            </a:r>
            <a:r>
              <a:rPr lang="en-US" b="1" dirty="0"/>
              <a:t>postal service</a:t>
            </a:r>
            <a:r>
              <a:rPr lang="en-US" dirty="0"/>
              <a:t>.</a:t>
            </a:r>
          </a:p>
          <a:p>
            <a:r>
              <a:rPr lang="en-US" dirty="0"/>
              <a:t>You send a letter (request) from your house to another house (server).</a:t>
            </a:r>
          </a:p>
          <a:p>
            <a:r>
              <a:rPr lang="en-US" dirty="0"/>
              <a:t>The server reads your letter, writes back, and you receive the reply.</a:t>
            </a:r>
          </a:p>
          <a:p>
            <a:r>
              <a:rPr lang="en-US" dirty="0"/>
              <a:t>Works anywhere, not just in the same room, but slower than passing notes in-person.</a:t>
            </a:r>
          </a:p>
        </p:txBody>
      </p:sp>
    </p:spTree>
    <p:extLst>
      <p:ext uri="{BB962C8B-B14F-4D97-AF65-F5344CB8AC3E}">
        <p14:creationId xmlns:p14="http://schemas.microsoft.com/office/powerpoint/2010/main" val="39970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120F60-04F1-E7E6-CB3A-A9640CC2DF08}"/>
              </a:ext>
            </a:extLst>
          </p:cNvPr>
          <p:cNvSpPr>
            <a:spLocks noGrp="1"/>
          </p:cNvSpPr>
          <p:nvPr>
            <p:ph type="title"/>
          </p:nvPr>
        </p:nvSpPr>
        <p:spPr/>
        <p:txBody>
          <a:bodyPr/>
          <a:lstStyle/>
          <a:p>
            <a:r>
              <a:rPr lang="en-IN" dirty="0"/>
              <a:t>Key Takeaways</a:t>
            </a:r>
          </a:p>
        </p:txBody>
      </p:sp>
      <p:graphicFrame>
        <p:nvGraphicFramePr>
          <p:cNvPr id="4" name="Content Placeholder 3">
            <a:extLst>
              <a:ext uri="{FF2B5EF4-FFF2-40B4-BE49-F238E27FC236}">
                <a16:creationId xmlns:a16="http://schemas.microsoft.com/office/drawing/2014/main" xmlns="" id="{F181E66A-4FE1-5671-FC45-C2A242077534}"/>
              </a:ext>
            </a:extLst>
          </p:cNvPr>
          <p:cNvGraphicFramePr>
            <a:graphicFrameLocks noGrp="1"/>
          </p:cNvGraphicFramePr>
          <p:nvPr>
            <p:ph idx="1"/>
          </p:nvPr>
        </p:nvGraphicFramePr>
        <p:xfrm>
          <a:off x="838200" y="2766854"/>
          <a:ext cx="10515600" cy="2468880"/>
        </p:xfrm>
        <a:graphic>
          <a:graphicData uri="http://schemas.openxmlformats.org/drawingml/2006/table">
            <a:tbl>
              <a:tblPr/>
              <a:tblGrid>
                <a:gridCol w="3505200">
                  <a:extLst>
                    <a:ext uri="{9D8B030D-6E8A-4147-A177-3AD203B41FA5}">
                      <a16:colId xmlns:a16="http://schemas.microsoft.com/office/drawing/2014/main" xmlns="" val="1646767765"/>
                    </a:ext>
                  </a:extLst>
                </a:gridCol>
                <a:gridCol w="3505200">
                  <a:extLst>
                    <a:ext uri="{9D8B030D-6E8A-4147-A177-3AD203B41FA5}">
                      <a16:colId xmlns:a16="http://schemas.microsoft.com/office/drawing/2014/main" xmlns="" val="1256580418"/>
                    </a:ext>
                  </a:extLst>
                </a:gridCol>
                <a:gridCol w="3505200">
                  <a:extLst>
                    <a:ext uri="{9D8B030D-6E8A-4147-A177-3AD203B41FA5}">
                      <a16:colId xmlns:a16="http://schemas.microsoft.com/office/drawing/2014/main" xmlns="" val="3571885677"/>
                    </a:ext>
                  </a:extLst>
                </a:gridCol>
              </a:tblGrid>
              <a:tr h="0">
                <a:tc>
                  <a:txBody>
                    <a:bodyPr/>
                    <a:lstStyle/>
                    <a:p>
                      <a:pPr>
                        <a:buNone/>
                      </a:pPr>
                      <a:r>
                        <a:rPr lang="en-IN"/>
                        <a:t>Concept</a:t>
                      </a:r>
                    </a:p>
                  </a:txBody>
                  <a:tcPr anchor="ctr">
                    <a:lnL>
                      <a:noFill/>
                    </a:lnL>
                    <a:lnR>
                      <a:noFill/>
                    </a:lnR>
                    <a:lnT>
                      <a:noFill/>
                    </a:lnT>
                    <a:lnB>
                      <a:noFill/>
                    </a:lnB>
                    <a:noFill/>
                  </a:tcPr>
                </a:tc>
                <a:tc>
                  <a:txBody>
                    <a:bodyPr/>
                    <a:lstStyle/>
                    <a:p>
                      <a:pPr>
                        <a:buNone/>
                      </a:pPr>
                      <a:r>
                        <a:rPr lang="en-IN"/>
                        <a:t>STDIO</a:t>
                      </a:r>
                    </a:p>
                  </a:txBody>
                  <a:tcPr anchor="ctr">
                    <a:lnL>
                      <a:noFill/>
                    </a:lnL>
                    <a:lnR>
                      <a:noFill/>
                    </a:lnR>
                    <a:lnT>
                      <a:noFill/>
                    </a:lnT>
                    <a:lnB>
                      <a:noFill/>
                    </a:lnB>
                    <a:noFill/>
                  </a:tcPr>
                </a:tc>
                <a:tc>
                  <a:txBody>
                    <a:bodyPr/>
                    <a:lstStyle/>
                    <a:p>
                      <a:pPr>
                        <a:buNone/>
                      </a:pPr>
                      <a:r>
                        <a:rPr lang="en-IN"/>
                        <a:t>TCP</a:t>
                      </a:r>
                    </a:p>
                  </a:txBody>
                  <a:tcPr anchor="ctr">
                    <a:lnL>
                      <a:noFill/>
                    </a:lnL>
                    <a:lnR>
                      <a:noFill/>
                    </a:lnR>
                    <a:lnT>
                      <a:noFill/>
                    </a:lnT>
                    <a:lnB>
                      <a:noFill/>
                    </a:lnB>
                    <a:noFill/>
                  </a:tcPr>
                </a:tc>
                <a:extLst>
                  <a:ext uri="{0D108BD9-81ED-4DB2-BD59-A6C34878D82A}">
                    <a16:rowId xmlns:a16="http://schemas.microsoft.com/office/drawing/2014/main" xmlns="" val="1218660314"/>
                  </a:ext>
                </a:extLst>
              </a:tr>
              <a:tr h="0">
                <a:tc>
                  <a:txBody>
                    <a:bodyPr/>
                    <a:lstStyle/>
                    <a:p>
                      <a:pPr>
                        <a:buNone/>
                      </a:pPr>
                      <a:r>
                        <a:rPr lang="en-IN"/>
                        <a:t>Speed</a:t>
                      </a:r>
                    </a:p>
                  </a:txBody>
                  <a:tcPr anchor="ctr">
                    <a:lnL>
                      <a:noFill/>
                    </a:lnL>
                    <a:lnR>
                      <a:noFill/>
                    </a:lnR>
                    <a:lnT>
                      <a:noFill/>
                    </a:lnT>
                    <a:lnB>
                      <a:noFill/>
                    </a:lnB>
                    <a:noFill/>
                  </a:tcPr>
                </a:tc>
                <a:tc>
                  <a:txBody>
                    <a:bodyPr/>
                    <a:lstStyle/>
                    <a:p>
                      <a:pPr>
                        <a:buNone/>
                      </a:pPr>
                      <a:r>
                        <a:rPr lang="en-IN"/>
                        <a:t>Very fast</a:t>
                      </a:r>
                    </a:p>
                  </a:txBody>
                  <a:tcPr anchor="ctr">
                    <a:lnL>
                      <a:noFill/>
                    </a:lnL>
                    <a:lnR>
                      <a:noFill/>
                    </a:lnR>
                    <a:lnT>
                      <a:noFill/>
                    </a:lnT>
                    <a:lnB>
                      <a:noFill/>
                    </a:lnB>
                    <a:noFill/>
                  </a:tcPr>
                </a:tc>
                <a:tc>
                  <a:txBody>
                    <a:bodyPr/>
                    <a:lstStyle/>
                    <a:p>
                      <a:pPr>
                        <a:buNone/>
                      </a:pPr>
                      <a:r>
                        <a:rPr lang="en-IN"/>
                        <a:t>Slightly slower</a:t>
                      </a:r>
                    </a:p>
                  </a:txBody>
                  <a:tcPr anchor="ctr">
                    <a:lnL>
                      <a:noFill/>
                    </a:lnL>
                    <a:lnR>
                      <a:noFill/>
                    </a:lnR>
                    <a:lnT>
                      <a:noFill/>
                    </a:lnT>
                    <a:lnB>
                      <a:noFill/>
                    </a:lnB>
                    <a:noFill/>
                  </a:tcPr>
                </a:tc>
                <a:extLst>
                  <a:ext uri="{0D108BD9-81ED-4DB2-BD59-A6C34878D82A}">
                    <a16:rowId xmlns:a16="http://schemas.microsoft.com/office/drawing/2014/main" xmlns="" val="2457544670"/>
                  </a:ext>
                </a:extLst>
              </a:tr>
              <a:tr h="0">
                <a:tc>
                  <a:txBody>
                    <a:bodyPr/>
                    <a:lstStyle/>
                    <a:p>
                      <a:pPr>
                        <a:buNone/>
                      </a:pPr>
                      <a:r>
                        <a:rPr lang="en-IN"/>
                        <a:t>Scope</a:t>
                      </a:r>
                    </a:p>
                  </a:txBody>
                  <a:tcPr anchor="ctr">
                    <a:lnL>
                      <a:noFill/>
                    </a:lnL>
                    <a:lnR>
                      <a:noFill/>
                    </a:lnR>
                    <a:lnT>
                      <a:noFill/>
                    </a:lnT>
                    <a:lnB>
                      <a:noFill/>
                    </a:lnB>
                    <a:noFill/>
                  </a:tcPr>
                </a:tc>
                <a:tc>
                  <a:txBody>
                    <a:bodyPr/>
                    <a:lstStyle/>
                    <a:p>
                      <a:pPr>
                        <a:buNone/>
                      </a:pPr>
                      <a:r>
                        <a:rPr lang="en-IN"/>
                        <a:t>Local / embedded</a:t>
                      </a:r>
                    </a:p>
                  </a:txBody>
                  <a:tcPr anchor="ctr">
                    <a:lnL>
                      <a:noFill/>
                    </a:lnL>
                    <a:lnR>
                      <a:noFill/>
                    </a:lnR>
                    <a:lnT>
                      <a:noFill/>
                    </a:lnT>
                    <a:lnB>
                      <a:noFill/>
                    </a:lnB>
                    <a:noFill/>
                  </a:tcPr>
                </a:tc>
                <a:tc>
                  <a:txBody>
                    <a:bodyPr/>
                    <a:lstStyle/>
                    <a:p>
                      <a:pPr>
                        <a:buNone/>
                      </a:pPr>
                      <a:r>
                        <a:rPr lang="en-IN"/>
                        <a:t>Local or networked</a:t>
                      </a:r>
                    </a:p>
                  </a:txBody>
                  <a:tcPr anchor="ctr">
                    <a:lnL>
                      <a:noFill/>
                    </a:lnL>
                    <a:lnR>
                      <a:noFill/>
                    </a:lnR>
                    <a:lnT>
                      <a:noFill/>
                    </a:lnT>
                    <a:lnB>
                      <a:noFill/>
                    </a:lnB>
                    <a:noFill/>
                  </a:tcPr>
                </a:tc>
                <a:extLst>
                  <a:ext uri="{0D108BD9-81ED-4DB2-BD59-A6C34878D82A}">
                    <a16:rowId xmlns:a16="http://schemas.microsoft.com/office/drawing/2014/main" xmlns="" val="845916713"/>
                  </a:ext>
                </a:extLst>
              </a:tr>
              <a:tr h="0">
                <a:tc>
                  <a:txBody>
                    <a:bodyPr/>
                    <a:lstStyle/>
                    <a:p>
                      <a:pPr>
                        <a:buNone/>
                      </a:pPr>
                      <a:r>
                        <a:rPr lang="en-IN"/>
                        <a:t>Multi-client</a:t>
                      </a:r>
                    </a:p>
                  </a:txBody>
                  <a:tcPr anchor="ctr">
                    <a:lnL>
                      <a:noFill/>
                    </a:lnL>
                    <a:lnR>
                      <a:noFill/>
                    </a:lnR>
                    <a:lnT>
                      <a:noFill/>
                    </a:lnT>
                    <a:lnB>
                      <a:noFill/>
                    </a:lnB>
                    <a:noFill/>
                  </a:tcPr>
                </a:tc>
                <a:tc>
                  <a:txBody>
                    <a:bodyPr/>
                    <a:lstStyle/>
                    <a:p>
                      <a:pPr>
                        <a:buNone/>
                      </a:pPr>
                      <a:r>
                        <a:rPr lang="en-IN"/>
                        <a:t>Usually one</a:t>
                      </a:r>
                    </a:p>
                  </a:txBody>
                  <a:tcPr anchor="ctr">
                    <a:lnL>
                      <a:noFill/>
                    </a:lnL>
                    <a:lnR>
                      <a:noFill/>
                    </a:lnR>
                    <a:lnT>
                      <a:noFill/>
                    </a:lnT>
                    <a:lnB>
                      <a:noFill/>
                    </a:lnB>
                    <a:noFill/>
                  </a:tcPr>
                </a:tc>
                <a:tc>
                  <a:txBody>
                    <a:bodyPr/>
                    <a:lstStyle/>
                    <a:p>
                      <a:pPr>
                        <a:buNone/>
                      </a:pPr>
                      <a:r>
                        <a:rPr lang="en-IN"/>
                        <a:t>Multiple clients</a:t>
                      </a:r>
                    </a:p>
                  </a:txBody>
                  <a:tcPr anchor="ctr">
                    <a:lnL>
                      <a:noFill/>
                    </a:lnL>
                    <a:lnR>
                      <a:noFill/>
                    </a:lnR>
                    <a:lnT>
                      <a:noFill/>
                    </a:lnT>
                    <a:lnB>
                      <a:noFill/>
                    </a:lnB>
                    <a:noFill/>
                  </a:tcPr>
                </a:tc>
                <a:extLst>
                  <a:ext uri="{0D108BD9-81ED-4DB2-BD59-A6C34878D82A}">
                    <a16:rowId xmlns:a16="http://schemas.microsoft.com/office/drawing/2014/main" xmlns="" val="2773294524"/>
                  </a:ext>
                </a:extLst>
              </a:tr>
              <a:tr h="0">
                <a:tc>
                  <a:txBody>
                    <a:bodyPr/>
                    <a:lstStyle/>
                    <a:p>
                      <a:pPr>
                        <a:buNone/>
                      </a:pPr>
                      <a:r>
                        <a:rPr lang="en-IN"/>
                        <a:t>Complexity</a:t>
                      </a:r>
                    </a:p>
                  </a:txBody>
                  <a:tcPr anchor="ctr">
                    <a:lnL>
                      <a:noFill/>
                    </a:lnL>
                    <a:lnR>
                      <a:noFill/>
                    </a:lnR>
                    <a:lnT>
                      <a:noFill/>
                    </a:lnT>
                    <a:lnB>
                      <a:noFill/>
                    </a:lnB>
                    <a:noFill/>
                  </a:tcPr>
                </a:tc>
                <a:tc>
                  <a:txBody>
                    <a:bodyPr/>
                    <a:lstStyle/>
                    <a:p>
                      <a:pPr>
                        <a:buNone/>
                      </a:pPr>
                      <a:r>
                        <a:rPr lang="en-IN"/>
                        <a:t>Simple</a:t>
                      </a:r>
                    </a:p>
                  </a:txBody>
                  <a:tcPr anchor="ctr">
                    <a:lnL>
                      <a:noFill/>
                    </a:lnL>
                    <a:lnR>
                      <a:noFill/>
                    </a:lnR>
                    <a:lnT>
                      <a:noFill/>
                    </a:lnT>
                    <a:lnB>
                      <a:noFill/>
                    </a:lnB>
                    <a:noFill/>
                  </a:tcPr>
                </a:tc>
                <a:tc>
                  <a:txBody>
                    <a:bodyPr/>
                    <a:lstStyle/>
                    <a:p>
                      <a:pPr>
                        <a:buNone/>
                      </a:pPr>
                      <a:r>
                        <a:rPr lang="en-IN"/>
                        <a:t>Need host + port, firewall</a:t>
                      </a:r>
                    </a:p>
                  </a:txBody>
                  <a:tcPr anchor="ctr">
                    <a:lnL>
                      <a:noFill/>
                    </a:lnL>
                    <a:lnR>
                      <a:noFill/>
                    </a:lnR>
                    <a:lnT>
                      <a:noFill/>
                    </a:lnT>
                    <a:lnB>
                      <a:noFill/>
                    </a:lnB>
                    <a:noFill/>
                  </a:tcPr>
                </a:tc>
                <a:extLst>
                  <a:ext uri="{0D108BD9-81ED-4DB2-BD59-A6C34878D82A}">
                    <a16:rowId xmlns:a16="http://schemas.microsoft.com/office/drawing/2014/main" xmlns="" val="2120627791"/>
                  </a:ext>
                </a:extLst>
              </a:tr>
              <a:tr h="0">
                <a:tc>
                  <a:txBody>
                    <a:bodyPr/>
                    <a:lstStyle/>
                    <a:p>
                      <a:pPr>
                        <a:buNone/>
                      </a:pPr>
                      <a:r>
                        <a:rPr lang="en-IN"/>
                        <a:t>Real-world use</a:t>
                      </a:r>
                    </a:p>
                  </a:txBody>
                  <a:tcPr anchor="ctr">
                    <a:lnL>
                      <a:noFill/>
                    </a:lnL>
                    <a:lnR>
                      <a:noFill/>
                    </a:lnR>
                    <a:lnT>
                      <a:noFill/>
                    </a:lnT>
                    <a:lnB>
                      <a:noFill/>
                    </a:lnB>
                    <a:noFill/>
                  </a:tcPr>
                </a:tc>
                <a:tc>
                  <a:txBody>
                    <a:bodyPr/>
                    <a:lstStyle/>
                    <a:p>
                      <a:pPr>
                        <a:buNone/>
                      </a:pPr>
                      <a:r>
                        <a:rPr lang="fr-FR"/>
                        <a:t>IDEs, VS Code plugin, ChatGPT plugin</a:t>
                      </a:r>
                    </a:p>
                  </a:txBody>
                  <a:tcPr anchor="ctr">
                    <a:lnL>
                      <a:noFill/>
                    </a:lnL>
                    <a:lnR>
                      <a:noFill/>
                    </a:lnR>
                    <a:lnT>
                      <a:noFill/>
                    </a:lnT>
                    <a:lnB>
                      <a:noFill/>
                    </a:lnB>
                    <a:noFill/>
                  </a:tcPr>
                </a:tc>
                <a:tc>
                  <a:txBody>
                    <a:bodyPr/>
                    <a:lstStyle/>
                    <a:p>
                      <a:pPr>
                        <a:buNone/>
                      </a:pPr>
                      <a:r>
                        <a:rPr lang="en-IN" dirty="0"/>
                        <a:t>Distributed microservices, Python scripts, agents</a:t>
                      </a:r>
                    </a:p>
                  </a:txBody>
                  <a:tcPr anchor="ctr">
                    <a:lnL>
                      <a:noFill/>
                    </a:lnL>
                    <a:lnR>
                      <a:noFill/>
                    </a:lnR>
                    <a:lnT>
                      <a:noFill/>
                    </a:lnT>
                    <a:lnB>
                      <a:noFill/>
                    </a:lnB>
                    <a:noFill/>
                  </a:tcPr>
                </a:tc>
                <a:extLst>
                  <a:ext uri="{0D108BD9-81ED-4DB2-BD59-A6C34878D82A}">
                    <a16:rowId xmlns:a16="http://schemas.microsoft.com/office/drawing/2014/main" xmlns="" val="1856717417"/>
                  </a:ext>
                </a:extLst>
              </a:tr>
            </a:tbl>
          </a:graphicData>
        </a:graphic>
      </p:graphicFrame>
    </p:spTree>
    <p:extLst>
      <p:ext uri="{BB962C8B-B14F-4D97-AF65-F5344CB8AC3E}">
        <p14:creationId xmlns:p14="http://schemas.microsoft.com/office/powerpoint/2010/main" val="1492920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TotalTime>
  <Words>1069</Words>
  <Application>Microsoft Office PowerPoint</Application>
  <PresentationFormat>Custom</PresentationFormat>
  <Paragraphs>136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 What is Model Context Protocol (MCP)? </vt:lpstr>
      <vt:lpstr> Why MCP? </vt:lpstr>
      <vt:lpstr> Key Benefits </vt:lpstr>
      <vt:lpstr> Core Components of MCP </vt:lpstr>
      <vt:lpstr> How They Interact: </vt:lpstr>
      <vt:lpstr> Local vs. Remote MCP – When &amp; Why? </vt:lpstr>
      <vt:lpstr> Local vs. Remote MCP – When &amp; Why? </vt:lpstr>
      <vt:lpstr> Comparison Table: </vt:lpstr>
      <vt:lpstr>MCP Server Transport — STDIO vs TCP</vt:lpstr>
      <vt:lpstr>How it works in MCP:</vt:lpstr>
      <vt:lpstr>PowerPoint Presentation</vt:lpstr>
      <vt:lpstr>TCP transport</vt:lpstr>
      <vt:lpstr>How it works in MCP:</vt:lpstr>
      <vt:lpstr>PowerPoint Presentation</vt:lpstr>
      <vt:lpstr>Key Takeaways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Pavan GS</dc:creator>
  <cp:lastModifiedBy>admin</cp:lastModifiedBy>
  <cp:revision>7</cp:revision>
  <dcterms:created xsi:type="dcterms:W3CDTF">2025-12-02T14:59:59Z</dcterms:created>
  <dcterms:modified xsi:type="dcterms:W3CDTF">2025-12-03T12:02:31Z</dcterms:modified>
</cp:coreProperties>
</file>